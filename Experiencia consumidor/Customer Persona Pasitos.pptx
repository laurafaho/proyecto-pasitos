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Lst>
  <p:sldSz cy="7772400" cx="10058400"/>
  <p:notesSz cx="6858000" cy="9144000"/>
  <p:embeddedFontLst>
    <p:embeddedFont>
      <p:font typeface="Montserrat"/>
      <p:regular r:id="rId7"/>
      <p:bold r:id="rId8"/>
      <p:italic r:id="rId9"/>
      <p:boldItalic r:id="rId10"/>
    </p:embeddedFont>
    <p:embeddedFont>
      <p:font typeface="Bree Serif"/>
      <p:regular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font" Target="fonts/BreeSerif-regular.fntdata"/><Relationship Id="rId10" Type="http://schemas.openxmlformats.org/officeDocument/2006/relationships/font" Target="fonts/Montserrat-boldItalic.fntdata"/><Relationship Id="rId9" Type="http://schemas.openxmlformats.org/officeDocument/2006/relationships/font" Target="fonts/Montserrat-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font" Target="fonts/Montserrat-regular.fntdata"/><Relationship Id="rId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3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cc9a5f4ed_0_0:notes"/>
          <p:cNvSpPr/>
          <p:nvPr>
            <p:ph idx="2" type="sldImg"/>
          </p:nvPr>
        </p:nvSpPr>
        <p:spPr>
          <a:xfrm>
            <a:off x="1210535" y="685800"/>
            <a:ext cx="4437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cc9a5f4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ea4504b095_0_32:notes"/>
          <p:cNvSpPr/>
          <p:nvPr>
            <p:ph idx="2" type="sldImg"/>
          </p:nvPr>
        </p:nvSpPr>
        <p:spPr>
          <a:xfrm>
            <a:off x="1210535" y="685800"/>
            <a:ext cx="44376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ea4504b09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p:spPr>
        <p:txBody>
          <a:bodyPr anchorCtr="0" anchor="b" bIns="113100" lIns="113100" spcFirstLastPara="1" rIns="113100" wrap="square" tIns="113100">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p:txBody>
      </p:sp>
      <p:sp>
        <p:nvSpPr>
          <p:cNvPr id="11" name="Google Shape;11;p2"/>
          <p:cNvSpPr txBox="1"/>
          <p:nvPr>
            <p:ph idx="1" type="subTitle"/>
          </p:nvPr>
        </p:nvSpPr>
        <p:spPr>
          <a:xfrm>
            <a:off x="342870" y="4282678"/>
            <a:ext cx="9372600" cy="1197600"/>
          </a:xfrm>
          <a:prstGeom prst="rect">
            <a:avLst/>
          </a:prstGeom>
        </p:spPr>
        <p:txBody>
          <a:bodyPr anchorCtr="0" anchor="t" bIns="113100" lIns="113100" spcFirstLastPara="1" rIns="113100" wrap="square" tIns="113100">
            <a:normAutofit/>
          </a:bodyPr>
          <a:lstStyle>
            <a:lvl1pPr lvl="0" algn="ctr">
              <a:lnSpc>
                <a:spcPct val="100000"/>
              </a:lnSpc>
              <a:spcBef>
                <a:spcPts val="0"/>
              </a:spcBef>
              <a:spcAft>
                <a:spcPts val="0"/>
              </a:spcAft>
              <a:buSzPts val="3500"/>
              <a:buNone/>
              <a:defRPr sz="3500"/>
            </a:lvl1pPr>
            <a:lvl2pPr lvl="1" algn="ctr">
              <a:lnSpc>
                <a:spcPct val="100000"/>
              </a:lnSpc>
              <a:spcBef>
                <a:spcPts val="0"/>
              </a:spcBef>
              <a:spcAft>
                <a:spcPts val="0"/>
              </a:spcAft>
              <a:buSzPts val="3500"/>
              <a:buNone/>
              <a:defRPr sz="3500"/>
            </a:lvl2pPr>
            <a:lvl3pPr lvl="2" algn="ctr">
              <a:lnSpc>
                <a:spcPct val="100000"/>
              </a:lnSpc>
              <a:spcBef>
                <a:spcPts val="0"/>
              </a:spcBef>
              <a:spcAft>
                <a:spcPts val="0"/>
              </a:spcAft>
              <a:buSzPts val="3500"/>
              <a:buNone/>
              <a:defRPr sz="3500"/>
            </a:lvl3pPr>
            <a:lvl4pPr lvl="3" algn="ctr">
              <a:lnSpc>
                <a:spcPct val="100000"/>
              </a:lnSpc>
              <a:spcBef>
                <a:spcPts val="0"/>
              </a:spcBef>
              <a:spcAft>
                <a:spcPts val="0"/>
              </a:spcAft>
              <a:buSzPts val="3500"/>
              <a:buNone/>
              <a:defRPr sz="3500"/>
            </a:lvl4pPr>
            <a:lvl5pPr lvl="4" algn="ctr">
              <a:lnSpc>
                <a:spcPct val="100000"/>
              </a:lnSpc>
              <a:spcBef>
                <a:spcPts val="0"/>
              </a:spcBef>
              <a:spcAft>
                <a:spcPts val="0"/>
              </a:spcAft>
              <a:buSzPts val="3500"/>
              <a:buNone/>
              <a:defRPr sz="3500"/>
            </a:lvl5pPr>
            <a:lvl6pPr lvl="5" algn="ctr">
              <a:lnSpc>
                <a:spcPct val="100000"/>
              </a:lnSpc>
              <a:spcBef>
                <a:spcPts val="0"/>
              </a:spcBef>
              <a:spcAft>
                <a:spcPts val="0"/>
              </a:spcAft>
              <a:buSzPts val="3500"/>
              <a:buNone/>
              <a:defRPr sz="3500"/>
            </a:lvl6pPr>
            <a:lvl7pPr lvl="6" algn="ctr">
              <a:lnSpc>
                <a:spcPct val="100000"/>
              </a:lnSpc>
              <a:spcBef>
                <a:spcPts val="0"/>
              </a:spcBef>
              <a:spcAft>
                <a:spcPts val="0"/>
              </a:spcAft>
              <a:buSzPts val="3500"/>
              <a:buNone/>
              <a:defRPr sz="3500"/>
            </a:lvl7pPr>
            <a:lvl8pPr lvl="7" algn="ctr">
              <a:lnSpc>
                <a:spcPct val="100000"/>
              </a:lnSpc>
              <a:spcBef>
                <a:spcPts val="0"/>
              </a:spcBef>
              <a:spcAft>
                <a:spcPts val="0"/>
              </a:spcAft>
              <a:buSzPts val="3500"/>
              <a:buNone/>
              <a:defRPr sz="3500"/>
            </a:lvl8pPr>
            <a:lvl9pPr lvl="8" algn="ctr">
              <a:lnSpc>
                <a:spcPct val="100000"/>
              </a:lnSpc>
              <a:spcBef>
                <a:spcPts val="0"/>
              </a:spcBef>
              <a:spcAft>
                <a:spcPts val="0"/>
              </a:spcAft>
              <a:buSzPts val="3500"/>
              <a:buNone/>
              <a:defRPr sz="3500"/>
            </a:lvl9pPr>
          </a:lstStyle>
          <a:p/>
        </p:txBody>
      </p:sp>
      <p:sp>
        <p:nvSpPr>
          <p:cNvPr id="12" name="Google Shape;12;p2"/>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870" y="3250173"/>
            <a:ext cx="9372600" cy="1272000"/>
          </a:xfrm>
          <a:prstGeom prst="rect">
            <a:avLst/>
          </a:prstGeom>
        </p:spPr>
        <p:txBody>
          <a:bodyPr anchorCtr="0" anchor="ctr" bIns="113100" lIns="113100" spcFirstLastPara="1" rIns="113100" wrap="square" tIns="113100">
            <a:normAutofit/>
          </a:bodyPr>
          <a:lstStyle>
            <a:lvl1pPr lvl="0" algn="ctr">
              <a:spcBef>
                <a:spcPts val="0"/>
              </a:spcBef>
              <a:spcAft>
                <a:spcPts val="0"/>
              </a:spcAft>
              <a:buSzPts val="4500"/>
              <a:buNone/>
              <a:defRPr sz="4500"/>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p:txBody>
      </p:sp>
      <p:sp>
        <p:nvSpPr>
          <p:cNvPr id="15" name="Google Shape;15;p3"/>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870" y="672482"/>
            <a:ext cx="9372600" cy="865500"/>
          </a:xfrm>
          <a:prstGeom prst="rect">
            <a:avLst/>
          </a:prstGeom>
        </p:spPr>
        <p:txBody>
          <a:bodyPr anchorCtr="0" anchor="t" bIns="113100" lIns="113100" spcFirstLastPara="1" rIns="113100" wrap="square" tIns="11310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 name="Google Shape;18;p4"/>
          <p:cNvSpPr txBox="1"/>
          <p:nvPr>
            <p:ph idx="1" type="body"/>
          </p:nvPr>
        </p:nvSpPr>
        <p:spPr>
          <a:xfrm>
            <a:off x="342870" y="1741518"/>
            <a:ext cx="9372600" cy="5162700"/>
          </a:xfrm>
          <a:prstGeom prst="rect">
            <a:avLst/>
          </a:prstGeom>
        </p:spPr>
        <p:txBody>
          <a:bodyPr anchorCtr="0" anchor="t" bIns="113100" lIns="113100" spcFirstLastPara="1" rIns="113100" wrap="square" tIns="113100">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p:spPr>
        <p:txBody>
          <a:bodyPr anchorCtr="0" anchor="t" bIns="113100" lIns="113100" spcFirstLastPara="1" rIns="113100" wrap="square" tIns="11310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 name="Google Shape;22;p5"/>
          <p:cNvSpPr txBox="1"/>
          <p:nvPr>
            <p:ph idx="1" type="body"/>
          </p:nvPr>
        </p:nvSpPr>
        <p:spPr>
          <a:xfrm>
            <a:off x="342870" y="1741518"/>
            <a:ext cx="4399800" cy="5162700"/>
          </a:xfrm>
          <a:prstGeom prst="rect">
            <a:avLst/>
          </a:prstGeom>
        </p:spPr>
        <p:txBody>
          <a:bodyPr anchorCtr="0" anchor="t" bIns="113100" lIns="113100" spcFirstLastPara="1" rIns="113100" wrap="square" tIns="113100">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3" name="Google Shape;23;p5"/>
          <p:cNvSpPr txBox="1"/>
          <p:nvPr>
            <p:ph idx="2" type="body"/>
          </p:nvPr>
        </p:nvSpPr>
        <p:spPr>
          <a:xfrm>
            <a:off x="5315640" y="1741518"/>
            <a:ext cx="4399800" cy="5162700"/>
          </a:xfrm>
          <a:prstGeom prst="rect">
            <a:avLst/>
          </a:prstGeom>
        </p:spPr>
        <p:txBody>
          <a:bodyPr anchorCtr="0" anchor="t" bIns="113100" lIns="113100" spcFirstLastPara="1" rIns="113100" wrap="square" tIns="113100">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4" name="Google Shape;24;p5"/>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p:spPr>
        <p:txBody>
          <a:bodyPr anchorCtr="0" anchor="t" bIns="113100" lIns="113100" spcFirstLastPara="1" rIns="113100" wrap="square" tIns="11310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 name="Google Shape;27;p6"/>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p:spPr>
        <p:txBody>
          <a:bodyPr anchorCtr="0" anchor="b" bIns="113100" lIns="113100" spcFirstLastPara="1" rIns="113100" wrap="square" tIns="11310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 name="Google Shape;30;p7"/>
          <p:cNvSpPr txBox="1"/>
          <p:nvPr>
            <p:ph idx="1" type="body"/>
          </p:nvPr>
        </p:nvSpPr>
        <p:spPr>
          <a:xfrm>
            <a:off x="342870" y="2099840"/>
            <a:ext cx="3088800" cy="4804500"/>
          </a:xfrm>
          <a:prstGeom prst="rect">
            <a:avLst/>
          </a:prstGeom>
        </p:spPr>
        <p:txBody>
          <a:bodyPr anchorCtr="0" anchor="t" bIns="113100" lIns="113100" spcFirstLastPara="1" rIns="113100" wrap="square" tIns="113100">
            <a:normAutofit/>
          </a:bodyPr>
          <a:lstStyle>
            <a:lvl1pPr indent="-323850" lvl="0" marL="457200">
              <a:spcBef>
                <a:spcPts val="0"/>
              </a:spcBef>
              <a:spcAft>
                <a:spcPts val="0"/>
              </a:spcAft>
              <a:buSzPts val="1500"/>
              <a:buChar char="●"/>
              <a:defRPr sz="15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31" name="Google Shape;31;p7"/>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p:spPr>
        <p:txBody>
          <a:bodyPr anchorCtr="0" anchor="ctr" bIns="113100" lIns="113100" spcFirstLastPara="1" rIns="113100" wrap="square" tIns="113100">
            <a:normAutofit/>
          </a:bodyPr>
          <a:lstStyle>
            <a:lvl1pPr lvl="0">
              <a:spcBef>
                <a:spcPts val="0"/>
              </a:spcBef>
              <a:spcAft>
                <a:spcPts val="0"/>
              </a:spcAft>
              <a:buSzPts val="5900"/>
              <a:buNone/>
              <a:defRPr sz="5900"/>
            </a:lvl1pPr>
            <a:lvl2pPr lvl="1">
              <a:spcBef>
                <a:spcPts val="0"/>
              </a:spcBef>
              <a:spcAft>
                <a:spcPts val="0"/>
              </a:spcAft>
              <a:buSzPts val="5900"/>
              <a:buNone/>
              <a:defRPr sz="5900"/>
            </a:lvl2pPr>
            <a:lvl3pPr lvl="2">
              <a:spcBef>
                <a:spcPts val="0"/>
              </a:spcBef>
              <a:spcAft>
                <a:spcPts val="0"/>
              </a:spcAft>
              <a:buSzPts val="5900"/>
              <a:buNone/>
              <a:defRPr sz="5900"/>
            </a:lvl3pPr>
            <a:lvl4pPr lvl="3">
              <a:spcBef>
                <a:spcPts val="0"/>
              </a:spcBef>
              <a:spcAft>
                <a:spcPts val="0"/>
              </a:spcAft>
              <a:buSzPts val="5900"/>
              <a:buNone/>
              <a:defRPr sz="5900"/>
            </a:lvl4pPr>
            <a:lvl5pPr lvl="4">
              <a:spcBef>
                <a:spcPts val="0"/>
              </a:spcBef>
              <a:spcAft>
                <a:spcPts val="0"/>
              </a:spcAft>
              <a:buSzPts val="5900"/>
              <a:buNone/>
              <a:defRPr sz="5900"/>
            </a:lvl5pPr>
            <a:lvl6pPr lvl="5">
              <a:spcBef>
                <a:spcPts val="0"/>
              </a:spcBef>
              <a:spcAft>
                <a:spcPts val="0"/>
              </a:spcAft>
              <a:buSzPts val="5900"/>
              <a:buNone/>
              <a:defRPr sz="5900"/>
            </a:lvl6pPr>
            <a:lvl7pPr lvl="6">
              <a:spcBef>
                <a:spcPts val="0"/>
              </a:spcBef>
              <a:spcAft>
                <a:spcPts val="0"/>
              </a:spcAft>
              <a:buSzPts val="5900"/>
              <a:buNone/>
              <a:defRPr sz="5900"/>
            </a:lvl7pPr>
            <a:lvl8pPr lvl="7">
              <a:spcBef>
                <a:spcPts val="0"/>
              </a:spcBef>
              <a:spcAft>
                <a:spcPts val="0"/>
              </a:spcAft>
              <a:buSzPts val="5900"/>
              <a:buNone/>
              <a:defRPr sz="5900"/>
            </a:lvl8pPr>
            <a:lvl9pPr lvl="8">
              <a:spcBef>
                <a:spcPts val="0"/>
              </a:spcBef>
              <a:spcAft>
                <a:spcPts val="0"/>
              </a:spcAft>
              <a:buSzPts val="5900"/>
              <a:buNone/>
              <a:defRPr sz="5900"/>
            </a:lvl9pPr>
          </a:lstStyle>
          <a:p/>
        </p:txBody>
      </p:sp>
      <p:sp>
        <p:nvSpPr>
          <p:cNvPr id="34" name="Google Shape;34;p8"/>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2050" y="1863464"/>
            <a:ext cx="4449600" cy="2239800"/>
          </a:xfrm>
          <a:prstGeom prst="rect">
            <a:avLst/>
          </a:prstGeom>
        </p:spPr>
        <p:txBody>
          <a:bodyPr anchorCtr="0" anchor="b" bIns="113100" lIns="113100" spcFirstLastPara="1" rIns="113100" wrap="square" tIns="11310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 name="Google Shape;38;p9"/>
          <p:cNvSpPr txBox="1"/>
          <p:nvPr>
            <p:ph idx="1" type="subTitle"/>
          </p:nvPr>
        </p:nvSpPr>
        <p:spPr>
          <a:xfrm>
            <a:off x="292050" y="4235758"/>
            <a:ext cx="4449600" cy="1866300"/>
          </a:xfrm>
          <a:prstGeom prst="rect">
            <a:avLst/>
          </a:prstGeom>
        </p:spPr>
        <p:txBody>
          <a:bodyPr anchorCtr="0" anchor="t" bIns="113100" lIns="113100" spcFirstLastPara="1" rIns="113100" wrap="square" tIns="113100">
            <a:norm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p:txBody>
      </p:sp>
      <p:sp>
        <p:nvSpPr>
          <p:cNvPr id="39" name="Google Shape;39;p9"/>
          <p:cNvSpPr txBox="1"/>
          <p:nvPr>
            <p:ph idx="2" type="body"/>
          </p:nvPr>
        </p:nvSpPr>
        <p:spPr>
          <a:xfrm>
            <a:off x="5433450" y="1094158"/>
            <a:ext cx="4220700" cy="5583600"/>
          </a:xfrm>
          <a:prstGeom prst="rect">
            <a:avLst/>
          </a:prstGeom>
        </p:spPr>
        <p:txBody>
          <a:bodyPr anchorCtr="0" anchor="ctr" bIns="113100" lIns="113100" spcFirstLastPara="1" rIns="113100" wrap="square" tIns="113100">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p:spPr>
        <p:txBody>
          <a:bodyPr anchorCtr="0" anchor="ctr" bIns="113100" lIns="113100" spcFirstLastPara="1" rIns="113100" wrap="square" tIns="113100">
            <a:normAutofit/>
          </a:bodyPr>
          <a:lstStyle>
            <a:lvl1pPr indent="-228600" lvl="0" marL="457200">
              <a:lnSpc>
                <a:spcPct val="100000"/>
              </a:lnSpc>
              <a:spcBef>
                <a:spcPts val="0"/>
              </a:spcBef>
              <a:spcAft>
                <a:spcPts val="0"/>
              </a:spcAft>
              <a:buSzPts val="2200"/>
              <a:buNone/>
              <a:defRPr/>
            </a:lvl1pPr>
          </a:lstStyle>
          <a:p/>
        </p:txBody>
      </p:sp>
      <p:sp>
        <p:nvSpPr>
          <p:cNvPr id="43" name="Google Shape;43;p10"/>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p:spPr>
        <p:txBody>
          <a:bodyPr anchorCtr="0" anchor="b" bIns="113100" lIns="113100" spcFirstLastPara="1" rIns="113100" wrap="square" tIns="113100">
            <a:normAutofit/>
          </a:bodyPr>
          <a:lstStyle>
            <a:lvl1pPr lvl="0" algn="ctr">
              <a:spcBef>
                <a:spcPts val="0"/>
              </a:spcBef>
              <a:spcAft>
                <a:spcPts val="0"/>
              </a:spcAft>
              <a:buSzPts val="14800"/>
              <a:buNone/>
              <a:defRPr sz="14800"/>
            </a:lvl1pPr>
            <a:lvl2pPr lvl="1" algn="ctr">
              <a:spcBef>
                <a:spcPts val="0"/>
              </a:spcBef>
              <a:spcAft>
                <a:spcPts val="0"/>
              </a:spcAft>
              <a:buSzPts val="14800"/>
              <a:buNone/>
              <a:defRPr sz="14800"/>
            </a:lvl2pPr>
            <a:lvl3pPr lvl="2" algn="ctr">
              <a:spcBef>
                <a:spcPts val="0"/>
              </a:spcBef>
              <a:spcAft>
                <a:spcPts val="0"/>
              </a:spcAft>
              <a:buSzPts val="14800"/>
              <a:buNone/>
              <a:defRPr sz="14800"/>
            </a:lvl3pPr>
            <a:lvl4pPr lvl="3" algn="ctr">
              <a:spcBef>
                <a:spcPts val="0"/>
              </a:spcBef>
              <a:spcAft>
                <a:spcPts val="0"/>
              </a:spcAft>
              <a:buSzPts val="14800"/>
              <a:buNone/>
              <a:defRPr sz="14800"/>
            </a:lvl4pPr>
            <a:lvl5pPr lvl="4" algn="ctr">
              <a:spcBef>
                <a:spcPts val="0"/>
              </a:spcBef>
              <a:spcAft>
                <a:spcPts val="0"/>
              </a:spcAft>
              <a:buSzPts val="14800"/>
              <a:buNone/>
              <a:defRPr sz="14800"/>
            </a:lvl5pPr>
            <a:lvl6pPr lvl="5" algn="ctr">
              <a:spcBef>
                <a:spcPts val="0"/>
              </a:spcBef>
              <a:spcAft>
                <a:spcPts val="0"/>
              </a:spcAft>
              <a:buSzPts val="14800"/>
              <a:buNone/>
              <a:defRPr sz="14800"/>
            </a:lvl6pPr>
            <a:lvl7pPr lvl="6" algn="ctr">
              <a:spcBef>
                <a:spcPts val="0"/>
              </a:spcBef>
              <a:spcAft>
                <a:spcPts val="0"/>
              </a:spcAft>
              <a:buSzPts val="14800"/>
              <a:buNone/>
              <a:defRPr sz="14800"/>
            </a:lvl7pPr>
            <a:lvl8pPr lvl="7" algn="ctr">
              <a:spcBef>
                <a:spcPts val="0"/>
              </a:spcBef>
              <a:spcAft>
                <a:spcPts val="0"/>
              </a:spcAft>
              <a:buSzPts val="14800"/>
              <a:buNone/>
              <a:defRPr sz="14800"/>
            </a:lvl8pPr>
            <a:lvl9pPr lvl="8" algn="ctr">
              <a:spcBef>
                <a:spcPts val="0"/>
              </a:spcBef>
              <a:spcAft>
                <a:spcPts val="0"/>
              </a:spcAft>
              <a:buSzPts val="14800"/>
              <a:buNone/>
              <a:defRPr sz="14800"/>
            </a:lvl9pPr>
          </a:lstStyle>
          <a:p>
            <a:r>
              <a:t>xx%</a:t>
            </a:r>
          </a:p>
        </p:txBody>
      </p:sp>
      <p:sp>
        <p:nvSpPr>
          <p:cNvPr id="46" name="Google Shape;46;p11"/>
          <p:cNvSpPr txBox="1"/>
          <p:nvPr>
            <p:ph idx="1" type="body"/>
          </p:nvPr>
        </p:nvSpPr>
        <p:spPr>
          <a:xfrm>
            <a:off x="342870" y="4763362"/>
            <a:ext cx="9372600" cy="1965600"/>
          </a:xfrm>
          <a:prstGeom prst="rect">
            <a:avLst/>
          </a:prstGeom>
        </p:spPr>
        <p:txBody>
          <a:bodyPr anchorCtr="0" anchor="t" bIns="113100" lIns="113100" spcFirstLastPara="1" rIns="113100" wrap="square" tIns="113100">
            <a:normAutofit/>
          </a:bodyPr>
          <a:lstStyle>
            <a:lvl1pPr indent="-368300" lvl="0" marL="457200" algn="ctr">
              <a:spcBef>
                <a:spcPts val="0"/>
              </a:spcBef>
              <a:spcAft>
                <a:spcPts val="0"/>
              </a:spcAft>
              <a:buSzPts val="22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594900"/>
          </a:xfrm>
          <a:prstGeom prst="rect">
            <a:avLst/>
          </a:prstGeom>
        </p:spPr>
        <p:txBody>
          <a:bodyPr anchorCtr="0" anchor="ctr" bIns="113100" lIns="113100" spcFirstLastPara="1" rIns="113100" wrap="square" tIns="1131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normAutofit/>
          </a:bodyPr>
          <a:lstStyle>
            <a:lvl1pPr lvl="0">
              <a:spcBef>
                <a:spcPts val="0"/>
              </a:spcBef>
              <a:spcAft>
                <a:spcPts val="0"/>
              </a:spcAft>
              <a:buClr>
                <a:schemeClr val="dk1"/>
              </a:buClr>
              <a:buSzPts val="3500"/>
              <a:buNone/>
              <a:defRPr sz="3500">
                <a:solidFill>
                  <a:schemeClr val="dk1"/>
                </a:solidFill>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normAutofit/>
          </a:bodyPr>
          <a:lstStyle>
            <a:lvl1pPr indent="-368300" lvl="0" marL="457200">
              <a:lnSpc>
                <a:spcPct val="115000"/>
              </a:lnSpc>
              <a:spcBef>
                <a:spcPts val="0"/>
              </a:spcBef>
              <a:spcAft>
                <a:spcPts val="0"/>
              </a:spcAft>
              <a:buClr>
                <a:schemeClr val="dk2"/>
              </a:buClr>
              <a:buSzPts val="2200"/>
              <a:buChar char="●"/>
              <a:defRPr sz="22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9319704" y="7046639"/>
            <a:ext cx="603600" cy="594900"/>
          </a:xfrm>
          <a:prstGeom prst="rect">
            <a:avLst/>
          </a:prstGeom>
          <a:noFill/>
          <a:ln>
            <a:noFill/>
          </a:ln>
        </p:spPr>
        <p:txBody>
          <a:bodyPr anchorCtr="0" anchor="ctr" bIns="113100" lIns="113100" spcFirstLastPara="1" rIns="113100" wrap="square" tIns="113100">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6455200" y="4303550"/>
            <a:ext cx="3141900" cy="750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p:nvPr/>
        </p:nvSpPr>
        <p:spPr>
          <a:xfrm>
            <a:off x="3402700" y="4274900"/>
            <a:ext cx="2530800" cy="750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p:nvPr/>
        </p:nvSpPr>
        <p:spPr>
          <a:xfrm>
            <a:off x="0" y="75"/>
            <a:ext cx="3041400" cy="77724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6424300" y="296050"/>
            <a:ext cx="3141900" cy="750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3"/>
          <p:cNvSpPr/>
          <p:nvPr/>
        </p:nvSpPr>
        <p:spPr>
          <a:xfrm>
            <a:off x="3426375" y="309000"/>
            <a:ext cx="2530800" cy="750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p:nvPr/>
        </p:nvSpPr>
        <p:spPr>
          <a:xfrm>
            <a:off x="0" y="2733675"/>
            <a:ext cx="3041400" cy="503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txBox="1"/>
          <p:nvPr>
            <p:ph idx="4294967295" type="body"/>
          </p:nvPr>
        </p:nvSpPr>
        <p:spPr>
          <a:xfrm>
            <a:off x="341600" y="3620250"/>
            <a:ext cx="2312100" cy="402000"/>
          </a:xfrm>
          <a:prstGeom prst="rect">
            <a:avLst/>
          </a:prstGeom>
        </p:spPr>
        <p:txBody>
          <a:bodyPr anchorCtr="0" anchor="t" bIns="113100" lIns="113100" spcFirstLastPara="1" rIns="113100" wrap="square" tIns="113100">
            <a:noAutofit/>
          </a:bodyPr>
          <a:lstStyle/>
          <a:p>
            <a:pPr indent="0" lvl="0" marL="0" rtl="0" algn="l">
              <a:lnSpc>
                <a:spcPct val="100000"/>
              </a:lnSpc>
              <a:spcBef>
                <a:spcPts val="0"/>
              </a:spcBef>
              <a:spcAft>
                <a:spcPts val="0"/>
              </a:spcAft>
              <a:buNone/>
            </a:pPr>
            <a:r>
              <a:rPr b="1" lang="en" sz="1600">
                <a:solidFill>
                  <a:srgbClr val="FFFFFF"/>
                </a:solidFill>
                <a:latin typeface="Bree Serif"/>
                <a:ea typeface="Bree Serif"/>
                <a:cs typeface="Bree Serif"/>
                <a:sym typeface="Bree Serif"/>
              </a:rPr>
              <a:t>Demografía</a:t>
            </a:r>
            <a:endParaRPr b="1" i="1" sz="1000">
              <a:solidFill>
                <a:srgbClr val="FFFFFF"/>
              </a:solidFill>
              <a:latin typeface="Montserrat"/>
              <a:ea typeface="Montserrat"/>
              <a:cs typeface="Montserrat"/>
              <a:sym typeface="Montserrat"/>
            </a:endParaRPr>
          </a:p>
        </p:txBody>
      </p:sp>
      <p:cxnSp>
        <p:nvCxnSpPr>
          <p:cNvPr id="61" name="Google Shape;61;p13"/>
          <p:cNvCxnSpPr/>
          <p:nvPr/>
        </p:nvCxnSpPr>
        <p:spPr>
          <a:xfrm>
            <a:off x="447650" y="4066825"/>
            <a:ext cx="1857600" cy="0"/>
          </a:xfrm>
          <a:prstGeom prst="straightConnector1">
            <a:avLst/>
          </a:prstGeom>
          <a:noFill/>
          <a:ln cap="flat" cmpd="sng" w="38100">
            <a:solidFill>
              <a:srgbClr val="FFFFFF"/>
            </a:solidFill>
            <a:prstDash val="solid"/>
            <a:round/>
            <a:headEnd len="med" w="med" type="none"/>
            <a:tailEnd len="med" w="med" type="none"/>
          </a:ln>
        </p:spPr>
      </p:cxnSp>
      <p:sp>
        <p:nvSpPr>
          <p:cNvPr id="62" name="Google Shape;62;p13"/>
          <p:cNvSpPr txBox="1"/>
          <p:nvPr/>
        </p:nvSpPr>
        <p:spPr>
          <a:xfrm>
            <a:off x="70100" y="4181000"/>
            <a:ext cx="2837400" cy="2993700"/>
          </a:xfrm>
          <a:prstGeom prst="rect">
            <a:avLst/>
          </a:prstGeom>
          <a:noFill/>
          <a:ln>
            <a:noFill/>
          </a:ln>
        </p:spPr>
        <p:txBody>
          <a:bodyPr anchorCtr="0" anchor="t" bIns="91425" lIns="91425" spcFirstLastPara="1" rIns="91425" wrap="square" tIns="91425">
            <a:spAutoFit/>
          </a:bodyPr>
          <a:lstStyle/>
          <a:p>
            <a:pPr indent="-200660" lvl="0" marL="365760" rtl="0" algn="l">
              <a:lnSpc>
                <a:spcPct val="115000"/>
              </a:lnSpc>
              <a:spcBef>
                <a:spcPts val="120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Edad: ~ 40 años</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Ubicación: Madrid centro (80%), afueras (20%).</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Familia: matrimonio, más de un hijo. ~ 3 o 4 años diferencia de edad entre los hijos.</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Estilo de vida: mayoritariamente sector con dinero, mucho trabajo (ambos) y poco tiempo en casa. La relación con los niños no es muy estrecha. En el 60% de los casos tienen niñera.</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Ocupación: cargos de responsabilidad, empresas grandes/emprendedores.</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Salario: </a:t>
            </a:r>
            <a:r>
              <a:rPr lang="en" sz="1000">
                <a:solidFill>
                  <a:schemeClr val="lt1"/>
                </a:solidFill>
                <a:latin typeface="Montserrat"/>
                <a:ea typeface="Montserrat"/>
                <a:cs typeface="Montserrat"/>
                <a:sym typeface="Montserrat"/>
              </a:rPr>
              <a:t>~</a:t>
            </a:r>
            <a:r>
              <a:rPr lang="en" sz="1000">
                <a:solidFill>
                  <a:srgbClr val="FFFFFF"/>
                </a:solidFill>
                <a:latin typeface="Montserrat"/>
                <a:ea typeface="Montserrat"/>
                <a:cs typeface="Montserrat"/>
                <a:sym typeface="Montserrat"/>
              </a:rPr>
              <a:t> 60-80K-año.</a:t>
            </a:r>
            <a:endParaRPr sz="1000">
              <a:solidFill>
                <a:srgbClr val="FFFFFF"/>
              </a:solidFill>
              <a:latin typeface="Montserrat"/>
              <a:ea typeface="Montserrat"/>
              <a:cs typeface="Montserrat"/>
              <a:sym typeface="Montserrat"/>
            </a:endParaRPr>
          </a:p>
        </p:txBody>
      </p:sp>
      <p:sp>
        <p:nvSpPr>
          <p:cNvPr id="63" name="Google Shape;63;p13"/>
          <p:cNvSpPr txBox="1"/>
          <p:nvPr>
            <p:ph idx="4294967295" type="body"/>
          </p:nvPr>
        </p:nvSpPr>
        <p:spPr>
          <a:xfrm>
            <a:off x="6499900" y="453450"/>
            <a:ext cx="3041400" cy="750000"/>
          </a:xfrm>
          <a:prstGeom prst="rect">
            <a:avLst/>
          </a:prstGeom>
        </p:spPr>
        <p:txBody>
          <a:bodyPr anchorCtr="0" anchor="t" bIns="113100" lIns="113100" spcFirstLastPara="1" rIns="113100" wrap="square" tIns="113100">
            <a:normAutofit/>
          </a:bodyPr>
          <a:lstStyle/>
          <a:p>
            <a:pPr indent="0" lvl="0" marL="0" rtl="0" algn="l">
              <a:lnSpc>
                <a:spcPct val="115000"/>
              </a:lnSpc>
              <a:spcBef>
                <a:spcPts val="0"/>
              </a:spcBef>
              <a:spcAft>
                <a:spcPts val="0"/>
              </a:spcAft>
              <a:buNone/>
            </a:pPr>
            <a:r>
              <a:rPr lang="en" sz="1600">
                <a:solidFill>
                  <a:srgbClr val="434343"/>
                </a:solidFill>
                <a:latin typeface="Bree Serif"/>
                <a:ea typeface="Bree Serif"/>
                <a:cs typeface="Bree Serif"/>
                <a:sym typeface="Bree Serif"/>
              </a:rPr>
              <a:t>Contexto</a:t>
            </a:r>
            <a:endParaRPr i="1" sz="1000">
              <a:solidFill>
                <a:srgbClr val="434343"/>
              </a:solidFill>
              <a:latin typeface="Montserrat"/>
              <a:ea typeface="Montserrat"/>
              <a:cs typeface="Montserrat"/>
              <a:sym typeface="Montserrat"/>
            </a:endParaRPr>
          </a:p>
        </p:txBody>
      </p:sp>
      <p:cxnSp>
        <p:nvCxnSpPr>
          <p:cNvPr id="64" name="Google Shape;64;p13"/>
          <p:cNvCxnSpPr/>
          <p:nvPr/>
        </p:nvCxnSpPr>
        <p:spPr>
          <a:xfrm>
            <a:off x="6394375" y="1087150"/>
            <a:ext cx="3143100" cy="0"/>
          </a:xfrm>
          <a:prstGeom prst="straightConnector1">
            <a:avLst/>
          </a:prstGeom>
          <a:noFill/>
          <a:ln cap="flat" cmpd="sng" w="38100">
            <a:solidFill>
              <a:schemeClr val="accent1"/>
            </a:solidFill>
            <a:prstDash val="solid"/>
            <a:round/>
            <a:headEnd len="med" w="med" type="none"/>
            <a:tailEnd len="med" w="med" type="none"/>
          </a:ln>
        </p:spPr>
      </p:cxnSp>
      <p:sp>
        <p:nvSpPr>
          <p:cNvPr id="65" name="Google Shape;65;p13"/>
          <p:cNvSpPr txBox="1"/>
          <p:nvPr>
            <p:ph idx="4294967295" type="title"/>
          </p:nvPr>
        </p:nvSpPr>
        <p:spPr>
          <a:xfrm>
            <a:off x="-100" y="309975"/>
            <a:ext cx="3041400" cy="750000"/>
          </a:xfrm>
          <a:prstGeom prst="rect">
            <a:avLst/>
          </a:prstGeom>
        </p:spPr>
        <p:txBody>
          <a:bodyPr anchorCtr="0" anchor="t" bIns="113100" lIns="113100" spcFirstLastPara="1" rIns="113100" wrap="square" tIns="113100">
            <a:noAutofit/>
          </a:bodyPr>
          <a:lstStyle/>
          <a:p>
            <a:pPr indent="0" lvl="0" marL="0" rtl="0" algn="ctr">
              <a:lnSpc>
                <a:spcPct val="115000"/>
              </a:lnSpc>
              <a:spcBef>
                <a:spcPts val="0"/>
              </a:spcBef>
              <a:spcAft>
                <a:spcPts val="0"/>
              </a:spcAft>
              <a:buSzPts val="990"/>
              <a:buNone/>
            </a:pPr>
            <a:r>
              <a:rPr b="1" lang="en" sz="2800">
                <a:solidFill>
                  <a:schemeClr val="accent1"/>
                </a:solidFill>
                <a:latin typeface="Bree Serif"/>
                <a:ea typeface="Bree Serif"/>
                <a:cs typeface="Bree Serif"/>
                <a:sym typeface="Bree Serif"/>
              </a:rPr>
              <a:t>Tatiana y Felipe</a:t>
            </a:r>
            <a:endParaRPr b="1" sz="2800">
              <a:solidFill>
                <a:schemeClr val="accent1"/>
              </a:solidFill>
              <a:latin typeface="Bree Serif"/>
              <a:ea typeface="Bree Serif"/>
              <a:cs typeface="Bree Serif"/>
              <a:sym typeface="Bree Serif"/>
            </a:endParaRPr>
          </a:p>
        </p:txBody>
      </p:sp>
      <p:sp>
        <p:nvSpPr>
          <p:cNvPr id="66" name="Google Shape;66;p13"/>
          <p:cNvSpPr txBox="1"/>
          <p:nvPr>
            <p:ph idx="4294967295" type="body"/>
          </p:nvPr>
        </p:nvSpPr>
        <p:spPr>
          <a:xfrm>
            <a:off x="3502838" y="453438"/>
            <a:ext cx="2535600" cy="668700"/>
          </a:xfrm>
          <a:prstGeom prst="rect">
            <a:avLst/>
          </a:prstGeom>
        </p:spPr>
        <p:txBody>
          <a:bodyPr anchorCtr="0" anchor="t" bIns="113100" lIns="113100" spcFirstLastPara="1" rIns="113100" wrap="square" tIns="113100">
            <a:normAutofit/>
          </a:bodyPr>
          <a:lstStyle/>
          <a:p>
            <a:pPr indent="0" lvl="0" marL="0" rtl="0" algn="l">
              <a:lnSpc>
                <a:spcPct val="115000"/>
              </a:lnSpc>
              <a:spcBef>
                <a:spcPts val="0"/>
              </a:spcBef>
              <a:spcAft>
                <a:spcPts val="0"/>
              </a:spcAft>
              <a:buNone/>
            </a:pPr>
            <a:r>
              <a:rPr lang="en" sz="1600">
                <a:solidFill>
                  <a:srgbClr val="434343"/>
                </a:solidFill>
                <a:latin typeface="Bree Serif"/>
                <a:ea typeface="Bree Serif"/>
                <a:cs typeface="Bree Serif"/>
                <a:sym typeface="Bree Serif"/>
              </a:rPr>
              <a:t>Citas reales</a:t>
            </a:r>
            <a:endParaRPr i="1" sz="1000">
              <a:solidFill>
                <a:srgbClr val="434343"/>
              </a:solidFill>
              <a:latin typeface="Montserrat"/>
              <a:ea typeface="Montserrat"/>
              <a:cs typeface="Montserrat"/>
              <a:sym typeface="Montserrat"/>
            </a:endParaRPr>
          </a:p>
        </p:txBody>
      </p:sp>
      <p:cxnSp>
        <p:nvCxnSpPr>
          <p:cNvPr id="67" name="Google Shape;67;p13"/>
          <p:cNvCxnSpPr/>
          <p:nvPr/>
        </p:nvCxnSpPr>
        <p:spPr>
          <a:xfrm>
            <a:off x="3421588" y="1084550"/>
            <a:ext cx="2530800" cy="0"/>
          </a:xfrm>
          <a:prstGeom prst="straightConnector1">
            <a:avLst/>
          </a:prstGeom>
          <a:noFill/>
          <a:ln cap="flat" cmpd="sng" w="38100">
            <a:solidFill>
              <a:schemeClr val="accent1"/>
            </a:solidFill>
            <a:prstDash val="solid"/>
            <a:round/>
            <a:headEnd len="med" w="med" type="none"/>
            <a:tailEnd len="med" w="med" type="none"/>
          </a:ln>
        </p:spPr>
      </p:cxnSp>
      <p:sp>
        <p:nvSpPr>
          <p:cNvPr id="68" name="Google Shape;68;p13"/>
          <p:cNvSpPr txBox="1"/>
          <p:nvPr/>
        </p:nvSpPr>
        <p:spPr>
          <a:xfrm>
            <a:off x="3212050" y="1194400"/>
            <a:ext cx="2791500" cy="965100"/>
          </a:xfrm>
          <a:prstGeom prst="rect">
            <a:avLst/>
          </a:prstGeom>
          <a:noFill/>
          <a:ln>
            <a:noFill/>
          </a:ln>
        </p:spPr>
        <p:txBody>
          <a:bodyPr anchorCtr="0" anchor="t" bIns="91425" lIns="91425" spcFirstLastPara="1" rIns="91425" wrap="square" tIns="91425">
            <a:noAutofit/>
          </a:bodyPr>
          <a:lstStyle/>
          <a:p>
            <a:pPr indent="-187960" lvl="0" marL="365760" rtl="0" algn="l">
              <a:lnSpc>
                <a:spcPct val="115000"/>
              </a:lnSpc>
              <a:spcBef>
                <a:spcPts val="1200"/>
              </a:spcBef>
              <a:spcAft>
                <a:spcPts val="0"/>
              </a:spcAft>
              <a:buClr>
                <a:srgbClr val="434343"/>
              </a:buClr>
              <a:buSzPts val="800"/>
              <a:buFont typeface="Montserrat"/>
              <a:buChar char="●"/>
            </a:pPr>
            <a:r>
              <a:rPr lang="en" sz="800">
                <a:solidFill>
                  <a:srgbClr val="444746"/>
                </a:solidFill>
                <a:highlight>
                  <a:srgbClr val="FFFFFF"/>
                </a:highlight>
                <a:latin typeface="Montserrat"/>
                <a:ea typeface="Montserrat"/>
                <a:cs typeface="Montserrat"/>
                <a:sym typeface="Montserrat"/>
              </a:rPr>
              <a:t>Me siento frustrada porque mi hijo sólo quiere patatas fritas y rechaza cualquier otro tipo de comida.</a:t>
            </a:r>
            <a:endParaRPr sz="800">
              <a:solidFill>
                <a:srgbClr val="444746"/>
              </a:solidFill>
              <a:highlight>
                <a:srgbClr val="FFFFFF"/>
              </a:highlight>
              <a:latin typeface="Montserrat"/>
              <a:ea typeface="Montserrat"/>
              <a:cs typeface="Montserrat"/>
              <a:sym typeface="Montserrat"/>
            </a:endParaRPr>
          </a:p>
          <a:p>
            <a:pPr indent="-187960" lvl="0" marL="365760" rtl="0" algn="l">
              <a:lnSpc>
                <a:spcPct val="115000"/>
              </a:lnSpc>
              <a:spcBef>
                <a:spcPts val="0"/>
              </a:spcBef>
              <a:spcAft>
                <a:spcPts val="0"/>
              </a:spcAft>
              <a:buClr>
                <a:srgbClr val="444746"/>
              </a:buClr>
              <a:buSzPts val="800"/>
              <a:buFont typeface="Montserrat"/>
              <a:buChar char="●"/>
            </a:pPr>
            <a:r>
              <a:rPr lang="en" sz="800">
                <a:solidFill>
                  <a:srgbClr val="444746"/>
                </a:solidFill>
                <a:highlight>
                  <a:srgbClr val="FFFFFF"/>
                </a:highlight>
                <a:latin typeface="Montserrat"/>
                <a:ea typeface="Montserrat"/>
                <a:cs typeface="Montserrat"/>
                <a:sym typeface="Montserrat"/>
              </a:rPr>
              <a:t>Me da miedo pensar qué será de mi niño en el futuro si las cosas no cambian.</a:t>
            </a:r>
            <a:endParaRPr sz="800">
              <a:solidFill>
                <a:srgbClr val="444746"/>
              </a:solidFill>
              <a:highlight>
                <a:srgbClr val="FFFFFF"/>
              </a:highlight>
              <a:latin typeface="Montserrat"/>
              <a:ea typeface="Montserrat"/>
              <a:cs typeface="Montserrat"/>
              <a:sym typeface="Montserrat"/>
            </a:endParaRPr>
          </a:p>
          <a:p>
            <a:pPr indent="-187960" lvl="0" marL="365760" rtl="0" algn="l">
              <a:lnSpc>
                <a:spcPct val="115000"/>
              </a:lnSpc>
              <a:spcBef>
                <a:spcPts val="0"/>
              </a:spcBef>
              <a:spcAft>
                <a:spcPts val="0"/>
              </a:spcAft>
              <a:buClr>
                <a:srgbClr val="444746"/>
              </a:buClr>
              <a:buSzPts val="800"/>
              <a:buFont typeface="Montserrat"/>
              <a:buChar char="●"/>
            </a:pPr>
            <a:r>
              <a:rPr lang="en" sz="800">
                <a:solidFill>
                  <a:srgbClr val="444746"/>
                </a:solidFill>
                <a:highlight>
                  <a:srgbClr val="FFFFFF"/>
                </a:highlight>
                <a:latin typeface="Montserrat"/>
                <a:ea typeface="Montserrat"/>
                <a:cs typeface="Montserrat"/>
                <a:sym typeface="Montserrat"/>
              </a:rPr>
              <a:t>Hemos visto un antes y un después en nuestra interacción con nuestro hijo desde que empezamos terapia.</a:t>
            </a:r>
            <a:endParaRPr sz="800">
              <a:solidFill>
                <a:srgbClr val="444746"/>
              </a:solidFill>
              <a:highlight>
                <a:srgbClr val="FFFFFF"/>
              </a:highlight>
              <a:latin typeface="Montserrat"/>
              <a:ea typeface="Montserrat"/>
              <a:cs typeface="Montserrat"/>
              <a:sym typeface="Montserrat"/>
            </a:endParaRPr>
          </a:p>
          <a:p>
            <a:pPr indent="-187960" lvl="0" marL="365760" rtl="0" algn="l">
              <a:lnSpc>
                <a:spcPct val="115000"/>
              </a:lnSpc>
              <a:spcBef>
                <a:spcPts val="0"/>
              </a:spcBef>
              <a:spcAft>
                <a:spcPts val="0"/>
              </a:spcAft>
              <a:buClr>
                <a:srgbClr val="444746"/>
              </a:buClr>
              <a:buSzPts val="800"/>
              <a:buFont typeface="Montserrat"/>
              <a:buChar char="●"/>
            </a:pPr>
            <a:r>
              <a:rPr lang="en" sz="800">
                <a:solidFill>
                  <a:srgbClr val="444746"/>
                </a:solidFill>
                <a:highlight>
                  <a:srgbClr val="FFFFFF"/>
                </a:highlight>
                <a:latin typeface="Montserrat"/>
                <a:ea typeface="Montserrat"/>
                <a:cs typeface="Montserrat"/>
                <a:sym typeface="Montserrat"/>
              </a:rPr>
              <a:t>No entiendo por qué no puedo cambiar la cita, qué poca flexibilidad.</a:t>
            </a:r>
            <a:endParaRPr sz="800">
              <a:solidFill>
                <a:srgbClr val="444746"/>
              </a:solidFill>
              <a:highlight>
                <a:srgbClr val="FFFFFF"/>
              </a:highlight>
              <a:latin typeface="Montserrat"/>
              <a:ea typeface="Montserrat"/>
              <a:cs typeface="Montserrat"/>
              <a:sym typeface="Montserrat"/>
            </a:endParaRPr>
          </a:p>
          <a:p>
            <a:pPr indent="-187960" lvl="0" marL="365760" rtl="0" algn="l">
              <a:lnSpc>
                <a:spcPct val="115000"/>
              </a:lnSpc>
              <a:spcBef>
                <a:spcPts val="0"/>
              </a:spcBef>
              <a:spcAft>
                <a:spcPts val="0"/>
              </a:spcAft>
              <a:buClr>
                <a:srgbClr val="444746"/>
              </a:buClr>
              <a:buSzPts val="800"/>
              <a:buFont typeface="Montserrat"/>
              <a:buChar char="●"/>
            </a:pPr>
            <a:r>
              <a:rPr lang="en" sz="800">
                <a:solidFill>
                  <a:srgbClr val="444746"/>
                </a:solidFill>
                <a:highlight>
                  <a:srgbClr val="FFFFFF"/>
                </a:highlight>
                <a:latin typeface="Montserrat"/>
                <a:ea typeface="Montserrat"/>
                <a:cs typeface="Montserrat"/>
                <a:sym typeface="Montserrat"/>
              </a:rPr>
              <a:t>Estoy encantada de que Pasitos se coordine con el cole de mi hijo y otros profesionales.</a:t>
            </a:r>
            <a:endParaRPr sz="800">
              <a:solidFill>
                <a:srgbClr val="444746"/>
              </a:solidFill>
              <a:highlight>
                <a:srgbClr val="FFFFFF"/>
              </a:highlight>
              <a:latin typeface="Montserrat"/>
              <a:ea typeface="Montserrat"/>
              <a:cs typeface="Montserrat"/>
              <a:sym typeface="Montserrat"/>
            </a:endParaRPr>
          </a:p>
        </p:txBody>
      </p:sp>
      <p:sp>
        <p:nvSpPr>
          <p:cNvPr id="69" name="Google Shape;69;p13"/>
          <p:cNvSpPr/>
          <p:nvPr/>
        </p:nvSpPr>
        <p:spPr>
          <a:xfrm>
            <a:off x="388700" y="1238875"/>
            <a:ext cx="2263800" cy="2263800"/>
          </a:xfrm>
          <a:prstGeom prst="ellipse">
            <a:avLst/>
          </a:prstGeom>
          <a:solidFill>
            <a:srgbClr val="FFFF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13"/>
          <p:cNvPicPr preferRelativeResize="0"/>
          <p:nvPr/>
        </p:nvPicPr>
        <p:blipFill rotWithShape="1">
          <a:blip r:embed="rId3">
            <a:alphaModFix/>
          </a:blip>
          <a:srcRect b="0" l="22466" r="11147" t="0"/>
          <a:stretch/>
        </p:blipFill>
        <p:spPr>
          <a:xfrm>
            <a:off x="515600" y="1361575"/>
            <a:ext cx="2010000" cy="2018400"/>
          </a:xfrm>
          <a:prstGeom prst="ellipse">
            <a:avLst/>
          </a:prstGeom>
          <a:noFill/>
          <a:ln>
            <a:noFill/>
          </a:ln>
        </p:spPr>
      </p:pic>
      <p:sp>
        <p:nvSpPr>
          <p:cNvPr id="71" name="Google Shape;71;p13"/>
          <p:cNvSpPr txBox="1"/>
          <p:nvPr>
            <p:ph idx="4294967295" type="body"/>
          </p:nvPr>
        </p:nvSpPr>
        <p:spPr>
          <a:xfrm>
            <a:off x="3502850" y="4455952"/>
            <a:ext cx="2535600" cy="571500"/>
          </a:xfrm>
          <a:prstGeom prst="rect">
            <a:avLst/>
          </a:prstGeom>
        </p:spPr>
        <p:txBody>
          <a:bodyPr anchorCtr="0" anchor="t" bIns="113100" lIns="113100" spcFirstLastPara="1" rIns="113100" wrap="square" tIns="113100">
            <a:noAutofit/>
          </a:bodyPr>
          <a:lstStyle/>
          <a:p>
            <a:pPr indent="0" lvl="0" marL="0" rtl="0" algn="l">
              <a:spcBef>
                <a:spcPts val="0"/>
              </a:spcBef>
              <a:spcAft>
                <a:spcPts val="0"/>
              </a:spcAft>
              <a:buClr>
                <a:schemeClr val="dk1"/>
              </a:buClr>
              <a:buSzPts val="1100"/>
              <a:buFont typeface="Arial"/>
              <a:buNone/>
            </a:pPr>
            <a:r>
              <a:rPr lang="en" sz="1600">
                <a:solidFill>
                  <a:srgbClr val="434343"/>
                </a:solidFill>
                <a:latin typeface="Bree Serif"/>
                <a:ea typeface="Bree Serif"/>
                <a:cs typeface="Bree Serif"/>
                <a:sym typeface="Bree Serif"/>
              </a:rPr>
              <a:t>Necesidades</a:t>
            </a:r>
            <a:endParaRPr i="1" sz="1000">
              <a:solidFill>
                <a:srgbClr val="434343"/>
              </a:solidFill>
              <a:latin typeface="Montserrat"/>
              <a:ea typeface="Montserrat"/>
              <a:cs typeface="Montserrat"/>
              <a:sym typeface="Montserrat"/>
            </a:endParaRPr>
          </a:p>
        </p:txBody>
      </p:sp>
      <p:cxnSp>
        <p:nvCxnSpPr>
          <p:cNvPr id="72" name="Google Shape;72;p13"/>
          <p:cNvCxnSpPr/>
          <p:nvPr/>
        </p:nvCxnSpPr>
        <p:spPr>
          <a:xfrm>
            <a:off x="3415638" y="5102750"/>
            <a:ext cx="2530800" cy="0"/>
          </a:xfrm>
          <a:prstGeom prst="straightConnector1">
            <a:avLst/>
          </a:prstGeom>
          <a:noFill/>
          <a:ln cap="flat" cmpd="sng" w="38100">
            <a:solidFill>
              <a:schemeClr val="accent1"/>
            </a:solidFill>
            <a:prstDash val="solid"/>
            <a:round/>
            <a:headEnd len="med" w="med" type="none"/>
            <a:tailEnd len="med" w="med" type="none"/>
          </a:ln>
        </p:spPr>
      </p:cxnSp>
      <p:sp>
        <p:nvSpPr>
          <p:cNvPr id="73" name="Google Shape;73;p13"/>
          <p:cNvSpPr txBox="1"/>
          <p:nvPr>
            <p:ph idx="4294967295" type="body"/>
          </p:nvPr>
        </p:nvSpPr>
        <p:spPr>
          <a:xfrm>
            <a:off x="6499900" y="4437050"/>
            <a:ext cx="3041400" cy="590400"/>
          </a:xfrm>
          <a:prstGeom prst="rect">
            <a:avLst/>
          </a:prstGeom>
        </p:spPr>
        <p:txBody>
          <a:bodyPr anchorCtr="0" anchor="t" bIns="113100" lIns="113100" spcFirstLastPara="1" rIns="113100" wrap="square" tIns="113100">
            <a:noAutofit/>
          </a:bodyPr>
          <a:lstStyle/>
          <a:p>
            <a:pPr indent="0" lvl="0" marL="0" rtl="0" algn="l">
              <a:lnSpc>
                <a:spcPct val="115000"/>
              </a:lnSpc>
              <a:spcBef>
                <a:spcPts val="0"/>
              </a:spcBef>
              <a:spcAft>
                <a:spcPts val="0"/>
              </a:spcAft>
              <a:buNone/>
            </a:pPr>
            <a:r>
              <a:rPr lang="en" sz="1600">
                <a:solidFill>
                  <a:srgbClr val="434343"/>
                </a:solidFill>
                <a:latin typeface="Bree Serif"/>
                <a:ea typeface="Bree Serif"/>
                <a:cs typeface="Bree Serif"/>
                <a:sym typeface="Bree Serif"/>
              </a:rPr>
              <a:t>Expectativas</a:t>
            </a:r>
            <a:br>
              <a:rPr b="1" lang="en" sz="1600">
                <a:solidFill>
                  <a:srgbClr val="434343"/>
                </a:solidFill>
                <a:latin typeface="Montserrat"/>
                <a:ea typeface="Montserrat"/>
                <a:cs typeface="Montserrat"/>
                <a:sym typeface="Montserrat"/>
              </a:rPr>
            </a:br>
            <a:endParaRPr i="1" sz="1600">
              <a:solidFill>
                <a:srgbClr val="434343"/>
              </a:solidFill>
              <a:latin typeface="Montserrat"/>
              <a:ea typeface="Montserrat"/>
              <a:cs typeface="Montserrat"/>
              <a:sym typeface="Montserrat"/>
            </a:endParaRPr>
          </a:p>
        </p:txBody>
      </p:sp>
      <p:sp>
        <p:nvSpPr>
          <p:cNvPr id="74" name="Google Shape;74;p13"/>
          <p:cNvSpPr txBox="1"/>
          <p:nvPr/>
        </p:nvSpPr>
        <p:spPr>
          <a:xfrm>
            <a:off x="6174200" y="1194400"/>
            <a:ext cx="3367200" cy="10467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120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Entre el 1er y 2º año hay signos de que el desarrollo del niño es diferente y parece no ir bien.</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Opciones: ir al neuropediatra; buscar info en Inet, o investigar con la guardería (si la tienen).</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Período de incertidumbre, no saben a quién acudir y cómo ayudar a sus hijos. Puede durar años. A veces las familias buscan centros de terapia. Si van por lo público entran a lista de espera con Crecovi (~ 1,5 años de espera para recibir terapia en el centro sanitario de atención temprana). Si van por lo privado, buscan clínicas cerca de casa. </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Finalmente, llegan a Pasitos: derivados por neuropediatra/orientador/profe de cole que nos conoce; boca a boca de otros clientes; o IG. </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Llegan preocupados, perdidos y sin saber qué hacer. </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Se sienten culpables. No están lo suficiente en casa y eso hace que el proceso sea más complicado.</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Ligado al punto anterior, a menudo están poco implicados en los procesos de terapia de sus hijos.</a:t>
            </a:r>
            <a:endParaRPr sz="800">
              <a:solidFill>
                <a:srgbClr val="434343"/>
              </a:solidFill>
              <a:latin typeface="Montserrat"/>
              <a:ea typeface="Montserrat"/>
              <a:cs typeface="Montserrat"/>
              <a:sym typeface="Montserrat"/>
            </a:endParaRPr>
          </a:p>
        </p:txBody>
      </p:sp>
      <p:sp>
        <p:nvSpPr>
          <p:cNvPr id="75" name="Google Shape;75;p13"/>
          <p:cNvSpPr txBox="1"/>
          <p:nvPr/>
        </p:nvSpPr>
        <p:spPr>
          <a:xfrm>
            <a:off x="3214650" y="5235325"/>
            <a:ext cx="2791500" cy="965100"/>
          </a:xfrm>
          <a:prstGeom prst="rect">
            <a:avLst/>
          </a:prstGeom>
          <a:noFill/>
          <a:ln>
            <a:noFill/>
          </a:ln>
        </p:spPr>
        <p:txBody>
          <a:bodyPr anchorCtr="0" anchor="t" bIns="91425" lIns="91425" spcFirstLastPara="1" rIns="91425" wrap="square" tIns="91425">
            <a:noAutofit/>
          </a:bodyPr>
          <a:lstStyle/>
          <a:p>
            <a:pPr indent="-187960" lvl="0" marL="365760" rtl="0" algn="l">
              <a:lnSpc>
                <a:spcPct val="115000"/>
              </a:lnSpc>
              <a:spcBef>
                <a:spcPts val="120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Entender a su hijo y el por qué actúa de determinada manera.</a:t>
            </a:r>
            <a:endParaRPr sz="800">
              <a:solidFill>
                <a:srgbClr val="434343"/>
              </a:solidFill>
              <a:latin typeface="Montserrat"/>
              <a:ea typeface="Montserrat"/>
              <a:cs typeface="Montserrat"/>
              <a:sym typeface="Montserrat"/>
            </a:endParaRPr>
          </a:p>
          <a:p>
            <a:pPr indent="-187960" lvl="0" marL="36576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Un profesional de confianza que escuche, con capacidad de análisis, que no juzgue a la familia, que tenga empatía, que sea cálido, abierto y pueda asesorarles.</a:t>
            </a:r>
            <a:endParaRPr sz="800">
              <a:solidFill>
                <a:srgbClr val="434343"/>
              </a:solidFill>
              <a:latin typeface="Montserrat"/>
              <a:ea typeface="Montserrat"/>
              <a:cs typeface="Montserrat"/>
              <a:sym typeface="Montserrat"/>
            </a:endParaRPr>
          </a:p>
          <a:p>
            <a:pPr indent="-187960" lvl="0" marL="36576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Alguien que además les guíe acerca de las ayudas ofrecidas por la administración pública.</a:t>
            </a:r>
            <a:endParaRPr sz="800">
              <a:solidFill>
                <a:srgbClr val="434343"/>
              </a:solidFill>
              <a:latin typeface="Montserrat"/>
              <a:ea typeface="Montserrat"/>
              <a:cs typeface="Montserrat"/>
              <a:sym typeface="Montserrat"/>
            </a:endParaRPr>
          </a:p>
          <a:p>
            <a:pPr indent="-187960" lvl="0" marL="36576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Saber qué va a necesitar su hijo en un futuro (se podrá adaptar, qué apoyos tendrá, etc.).</a:t>
            </a:r>
            <a:endParaRPr sz="800">
              <a:solidFill>
                <a:srgbClr val="434343"/>
              </a:solidFill>
              <a:latin typeface="Montserrat"/>
              <a:ea typeface="Montserrat"/>
              <a:cs typeface="Montserrat"/>
              <a:sym typeface="Montserrat"/>
            </a:endParaRPr>
          </a:p>
          <a:p>
            <a:pPr indent="-187960" lvl="0" marL="36576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Que haya una continuidad (rutina) y se alcancen una serie de objetivos.</a:t>
            </a:r>
            <a:endParaRPr sz="800">
              <a:solidFill>
                <a:srgbClr val="434343"/>
              </a:solidFill>
              <a:latin typeface="Montserrat"/>
              <a:ea typeface="Montserrat"/>
              <a:cs typeface="Montserrat"/>
              <a:sym typeface="Montserrat"/>
            </a:endParaRPr>
          </a:p>
        </p:txBody>
      </p:sp>
      <p:sp>
        <p:nvSpPr>
          <p:cNvPr id="76" name="Google Shape;76;p13"/>
          <p:cNvSpPr txBox="1"/>
          <p:nvPr/>
        </p:nvSpPr>
        <p:spPr>
          <a:xfrm>
            <a:off x="6176800" y="5235325"/>
            <a:ext cx="3393900" cy="10467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120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Un proveedor que pueda asesorarles en todos los aspectos de vida impactados por tener un hijo con desafíos en el desarrollo (desde temas administrativos como </a:t>
            </a:r>
            <a:r>
              <a:rPr lang="en" sz="800">
                <a:solidFill>
                  <a:srgbClr val="434343"/>
                </a:solidFill>
                <a:latin typeface="Montserrat"/>
                <a:ea typeface="Montserrat"/>
                <a:cs typeface="Montserrat"/>
                <a:sym typeface="Montserrat"/>
              </a:rPr>
              <a:t>ayudas/</a:t>
            </a:r>
            <a:r>
              <a:rPr lang="en" sz="800">
                <a:solidFill>
                  <a:srgbClr val="434343"/>
                </a:solidFill>
                <a:latin typeface="Montserrat"/>
                <a:ea typeface="Montserrat"/>
                <a:cs typeface="Montserrat"/>
                <a:sym typeface="Montserrat"/>
              </a:rPr>
              <a:t>cheque servicio, a educativos -qué centros pueden ser más adecuados-, etc.) . </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Esperan que los retos por los que el núcleo familiar está pasando se solucionen rápido en el momento en el que hay un diagnóstico. Sin embargo, la llegada a éste puede ser larga (media de dos años).</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El pago es una cuota mensual fija, pero las familias esperan que si cancelan una sesión, ésta se pueda recuperar, cuando según los T&amp;Cs no es así.</a:t>
            </a:r>
            <a:endParaRPr sz="800">
              <a:solidFill>
                <a:srgbClr val="434343"/>
              </a:solidFill>
              <a:latin typeface="Montserrat"/>
              <a:ea typeface="Montserrat"/>
              <a:cs typeface="Montserrat"/>
              <a:sym typeface="Montserrat"/>
            </a:endParaRPr>
          </a:p>
          <a:p>
            <a:pPr indent="-279400" lvl="0" marL="457200" rtl="0" algn="l">
              <a:lnSpc>
                <a:spcPct val="115000"/>
              </a:lnSpc>
              <a:spcBef>
                <a:spcPts val="0"/>
              </a:spcBef>
              <a:spcAft>
                <a:spcPts val="0"/>
              </a:spcAft>
              <a:buClr>
                <a:srgbClr val="434343"/>
              </a:buClr>
              <a:buSzPts val="800"/>
              <a:buFont typeface="Montserrat"/>
              <a:buChar char="●"/>
            </a:pPr>
            <a:r>
              <a:rPr lang="en" sz="800">
                <a:solidFill>
                  <a:srgbClr val="434343"/>
                </a:solidFill>
                <a:latin typeface="Montserrat"/>
                <a:ea typeface="Montserrat"/>
                <a:cs typeface="Montserrat"/>
                <a:sym typeface="Montserrat"/>
              </a:rPr>
              <a:t>Esperan que el mes de julio no se trabaje porque suele ser típico de vacaciones (Pasitos trabaja y hay cierta flexibilidad para recuperar esas sesiones. Similar con los días no festivos de Semana Santa).</a:t>
            </a:r>
            <a:endParaRPr sz="800">
              <a:solidFill>
                <a:srgbClr val="434343"/>
              </a:solidFill>
              <a:latin typeface="Montserrat"/>
              <a:ea typeface="Montserrat"/>
              <a:cs typeface="Montserrat"/>
              <a:sym typeface="Montserrat"/>
            </a:endParaRPr>
          </a:p>
        </p:txBody>
      </p:sp>
      <p:cxnSp>
        <p:nvCxnSpPr>
          <p:cNvPr id="77" name="Google Shape;77;p13"/>
          <p:cNvCxnSpPr/>
          <p:nvPr/>
        </p:nvCxnSpPr>
        <p:spPr>
          <a:xfrm>
            <a:off x="6454600" y="5102750"/>
            <a:ext cx="3143100" cy="0"/>
          </a:xfrm>
          <a:prstGeom prst="straightConnector1">
            <a:avLst/>
          </a:prstGeom>
          <a:noFill/>
          <a:ln cap="flat" cmpd="sng" w="38100">
            <a:solidFill>
              <a:schemeClr val="accen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p:nvPr/>
        </p:nvSpPr>
        <p:spPr>
          <a:xfrm>
            <a:off x="3421600" y="4074000"/>
            <a:ext cx="6096300" cy="888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4"/>
          <p:cNvSpPr/>
          <p:nvPr/>
        </p:nvSpPr>
        <p:spPr>
          <a:xfrm>
            <a:off x="0" y="75"/>
            <a:ext cx="3041400" cy="77724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0" y="2733675"/>
            <a:ext cx="3041400" cy="503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txBox="1"/>
          <p:nvPr>
            <p:ph idx="4294967295" type="body"/>
          </p:nvPr>
        </p:nvSpPr>
        <p:spPr>
          <a:xfrm>
            <a:off x="341600" y="3620250"/>
            <a:ext cx="2312100" cy="402000"/>
          </a:xfrm>
          <a:prstGeom prst="rect">
            <a:avLst/>
          </a:prstGeom>
        </p:spPr>
        <p:txBody>
          <a:bodyPr anchorCtr="0" anchor="t" bIns="113100" lIns="113100" spcFirstLastPara="1" rIns="113100" wrap="square" tIns="113100">
            <a:noAutofit/>
          </a:bodyPr>
          <a:lstStyle/>
          <a:p>
            <a:pPr indent="0" lvl="0" marL="0" rtl="0" algn="l">
              <a:lnSpc>
                <a:spcPct val="100000"/>
              </a:lnSpc>
              <a:spcBef>
                <a:spcPts val="0"/>
              </a:spcBef>
              <a:spcAft>
                <a:spcPts val="0"/>
              </a:spcAft>
              <a:buNone/>
            </a:pPr>
            <a:r>
              <a:rPr b="1" lang="en" sz="1600">
                <a:solidFill>
                  <a:srgbClr val="FFFFFF"/>
                </a:solidFill>
                <a:latin typeface="Bree Serif"/>
                <a:ea typeface="Bree Serif"/>
                <a:cs typeface="Bree Serif"/>
                <a:sym typeface="Bree Serif"/>
              </a:rPr>
              <a:t>Demografía</a:t>
            </a:r>
            <a:endParaRPr i="1" sz="1000">
              <a:solidFill>
                <a:srgbClr val="FFFFFF"/>
              </a:solidFill>
              <a:latin typeface="Montserrat"/>
              <a:ea typeface="Montserrat"/>
              <a:cs typeface="Montserrat"/>
              <a:sym typeface="Montserrat"/>
            </a:endParaRPr>
          </a:p>
        </p:txBody>
      </p:sp>
      <p:cxnSp>
        <p:nvCxnSpPr>
          <p:cNvPr id="86" name="Google Shape;86;p14"/>
          <p:cNvCxnSpPr/>
          <p:nvPr/>
        </p:nvCxnSpPr>
        <p:spPr>
          <a:xfrm>
            <a:off x="447650" y="4066825"/>
            <a:ext cx="1857600" cy="0"/>
          </a:xfrm>
          <a:prstGeom prst="straightConnector1">
            <a:avLst/>
          </a:prstGeom>
          <a:noFill/>
          <a:ln cap="flat" cmpd="sng" w="38100">
            <a:solidFill>
              <a:srgbClr val="FFFFFF"/>
            </a:solidFill>
            <a:prstDash val="solid"/>
            <a:round/>
            <a:headEnd len="med" w="med" type="none"/>
            <a:tailEnd len="med" w="med" type="none"/>
          </a:ln>
        </p:spPr>
      </p:cxnSp>
      <p:sp>
        <p:nvSpPr>
          <p:cNvPr id="87" name="Google Shape;87;p14"/>
          <p:cNvSpPr txBox="1"/>
          <p:nvPr/>
        </p:nvSpPr>
        <p:spPr>
          <a:xfrm>
            <a:off x="3212050" y="1346800"/>
            <a:ext cx="2791500" cy="965100"/>
          </a:xfrm>
          <a:prstGeom prst="rect">
            <a:avLst/>
          </a:prstGeom>
          <a:noFill/>
          <a:ln>
            <a:noFill/>
          </a:ln>
        </p:spPr>
        <p:txBody>
          <a:bodyPr anchorCtr="0" anchor="t" bIns="91425" lIns="91425" spcFirstLastPara="1" rIns="91425" wrap="square" tIns="91425">
            <a:noAutofit/>
          </a:bodyPr>
          <a:lstStyle/>
          <a:p>
            <a:pPr indent="-200660" lvl="0" marL="365760" rtl="0" algn="l">
              <a:lnSpc>
                <a:spcPct val="115000"/>
              </a:lnSpc>
              <a:spcBef>
                <a:spcPts val="120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No entender a sus hijos. </a:t>
            </a:r>
            <a:endParaRPr sz="1000">
              <a:solidFill>
                <a:srgbClr val="434343"/>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La falta de conocimiento a nivel administrativo y de ayudas disponibles.</a:t>
            </a:r>
            <a:endParaRPr sz="1000">
              <a:solidFill>
                <a:srgbClr val="434343"/>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Largas listas de espera en Crecovi.</a:t>
            </a:r>
            <a:endParaRPr sz="1000">
              <a:solidFill>
                <a:srgbClr val="434343"/>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Falta de tiempo y disponibilidad.</a:t>
            </a:r>
            <a:endParaRPr sz="1000">
              <a:solidFill>
                <a:srgbClr val="434343"/>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El sistema educativo tradicional no está equipado como para dar el apoyo requerido según las necesidades específicas del niño. </a:t>
            </a:r>
            <a:endParaRPr sz="1000">
              <a:solidFill>
                <a:srgbClr val="434343"/>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En ocasiones, falta de medios económicos.</a:t>
            </a:r>
            <a:endParaRPr sz="1000">
              <a:solidFill>
                <a:srgbClr val="434343"/>
              </a:solidFill>
              <a:latin typeface="Montserrat"/>
              <a:ea typeface="Montserrat"/>
              <a:cs typeface="Montserrat"/>
              <a:sym typeface="Montserrat"/>
            </a:endParaRPr>
          </a:p>
        </p:txBody>
      </p:sp>
      <p:sp>
        <p:nvSpPr>
          <p:cNvPr id="88" name="Google Shape;88;p14"/>
          <p:cNvSpPr/>
          <p:nvPr/>
        </p:nvSpPr>
        <p:spPr>
          <a:xfrm>
            <a:off x="388700" y="1238875"/>
            <a:ext cx="2263800" cy="2263800"/>
          </a:xfrm>
          <a:prstGeom prst="ellipse">
            <a:avLst/>
          </a:prstGeom>
          <a:solidFill>
            <a:srgbClr val="FFFF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txBox="1"/>
          <p:nvPr>
            <p:ph idx="4294967295" type="body"/>
          </p:nvPr>
        </p:nvSpPr>
        <p:spPr>
          <a:xfrm>
            <a:off x="3502850" y="4270250"/>
            <a:ext cx="6038400" cy="750000"/>
          </a:xfrm>
          <a:prstGeom prst="rect">
            <a:avLst/>
          </a:prstGeom>
        </p:spPr>
        <p:txBody>
          <a:bodyPr anchorCtr="0" anchor="t" bIns="113100" lIns="113100" spcFirstLastPara="1" rIns="113100" wrap="square" tIns="113100">
            <a:normAutofit/>
          </a:bodyPr>
          <a:lstStyle/>
          <a:p>
            <a:pPr indent="0" lvl="0" marL="0" rtl="0" algn="ctr">
              <a:lnSpc>
                <a:spcPct val="115000"/>
              </a:lnSpc>
              <a:spcBef>
                <a:spcPts val="0"/>
              </a:spcBef>
              <a:spcAft>
                <a:spcPts val="0"/>
              </a:spcAft>
              <a:buNone/>
            </a:pPr>
            <a:r>
              <a:rPr lang="en" sz="1600">
                <a:solidFill>
                  <a:srgbClr val="434343"/>
                </a:solidFill>
                <a:latin typeface="Bree Serif"/>
                <a:ea typeface="Bree Serif"/>
                <a:cs typeface="Bree Serif"/>
                <a:sym typeface="Bree Serif"/>
              </a:rPr>
              <a:t>Elevator Pitch</a:t>
            </a:r>
            <a:endParaRPr b="1" sz="1600">
              <a:solidFill>
                <a:srgbClr val="434343"/>
              </a:solidFill>
              <a:latin typeface="Montserrat"/>
              <a:ea typeface="Montserrat"/>
              <a:cs typeface="Montserrat"/>
              <a:sym typeface="Montserrat"/>
            </a:endParaRPr>
          </a:p>
        </p:txBody>
      </p:sp>
      <p:sp>
        <p:nvSpPr>
          <p:cNvPr id="90" name="Google Shape;90;p14"/>
          <p:cNvSpPr txBox="1"/>
          <p:nvPr/>
        </p:nvSpPr>
        <p:spPr>
          <a:xfrm>
            <a:off x="6174200" y="1346800"/>
            <a:ext cx="3363300" cy="10467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20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Dinero: Se puede percibir como un servicio costoso.</a:t>
            </a:r>
            <a:endParaRPr sz="1000">
              <a:solidFill>
                <a:srgbClr val="434343"/>
              </a:solidFill>
              <a:latin typeface="Montserrat"/>
              <a:ea typeface="Montserrat"/>
              <a:cs typeface="Montserrat"/>
              <a:sym typeface="Montserrat"/>
            </a:endParaRPr>
          </a:p>
          <a:p>
            <a:pPr indent="-292100" lvl="0" marL="45720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Porque no disponemos de logopeda.</a:t>
            </a:r>
            <a:endParaRPr sz="1000">
              <a:solidFill>
                <a:srgbClr val="434343"/>
              </a:solidFill>
              <a:latin typeface="Montserrat"/>
              <a:ea typeface="Montserrat"/>
              <a:cs typeface="Montserrat"/>
              <a:sym typeface="Montserrat"/>
            </a:endParaRPr>
          </a:p>
          <a:p>
            <a:pPr indent="-292100" lvl="0" marL="457200" rtl="0" algn="l">
              <a:lnSpc>
                <a:spcPct val="115000"/>
              </a:lnSpc>
              <a:spcBef>
                <a:spcPts val="0"/>
              </a:spcBef>
              <a:spcAft>
                <a:spcPts val="0"/>
              </a:spcAft>
              <a:buClr>
                <a:srgbClr val="434343"/>
              </a:buClr>
              <a:buSzPts val="1000"/>
              <a:buFont typeface="Montserrat"/>
              <a:buChar char="●"/>
            </a:pPr>
            <a:r>
              <a:rPr lang="en" sz="1000">
                <a:solidFill>
                  <a:srgbClr val="434343"/>
                </a:solidFill>
                <a:latin typeface="Montserrat"/>
                <a:ea typeface="Montserrat"/>
                <a:cs typeface="Montserrat"/>
                <a:sym typeface="Montserrat"/>
              </a:rPr>
              <a:t>Porque la terapia se realiza en casa o el cole, no en una clínica.</a:t>
            </a:r>
            <a:endParaRPr sz="1000">
              <a:solidFill>
                <a:srgbClr val="434343"/>
              </a:solidFill>
              <a:latin typeface="Montserrat"/>
              <a:ea typeface="Montserrat"/>
              <a:cs typeface="Montserrat"/>
              <a:sym typeface="Montserrat"/>
            </a:endParaRPr>
          </a:p>
        </p:txBody>
      </p:sp>
      <p:sp>
        <p:nvSpPr>
          <p:cNvPr id="91" name="Google Shape;91;p14"/>
          <p:cNvSpPr txBox="1"/>
          <p:nvPr/>
        </p:nvSpPr>
        <p:spPr>
          <a:xfrm>
            <a:off x="3462700" y="5159125"/>
            <a:ext cx="6077400" cy="201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000">
                <a:solidFill>
                  <a:srgbClr val="434343"/>
                </a:solidFill>
                <a:latin typeface="Montserrat"/>
                <a:ea typeface="Montserrat"/>
                <a:cs typeface="Montserrat"/>
                <a:sym typeface="Montserrat"/>
              </a:rPr>
              <a:t>Soy Laura Fajardo, CEO en Proyecto Pasitos. Somos un equipo de terapia infantil que se encarga de mejorar el bienestar global de niños con desafíos en el desarrollo. Trabajamos desde los primeros años de vida a </a:t>
            </a:r>
            <a:r>
              <a:rPr lang="en" sz="1000">
                <a:solidFill>
                  <a:srgbClr val="434343"/>
                </a:solidFill>
                <a:latin typeface="Montserrat"/>
                <a:ea typeface="Montserrat"/>
                <a:cs typeface="Montserrat"/>
                <a:sym typeface="Montserrat"/>
              </a:rPr>
              <a:t>través</a:t>
            </a:r>
            <a:r>
              <a:rPr lang="en" sz="1000">
                <a:solidFill>
                  <a:srgbClr val="434343"/>
                </a:solidFill>
                <a:latin typeface="Montserrat"/>
                <a:ea typeface="Montserrat"/>
                <a:cs typeface="Montserrat"/>
                <a:sym typeface="Montserrat"/>
              </a:rPr>
              <a:t> del juego  como fuente de </a:t>
            </a:r>
            <a:r>
              <a:rPr lang="en" sz="1000">
                <a:solidFill>
                  <a:srgbClr val="434343"/>
                </a:solidFill>
                <a:latin typeface="Montserrat"/>
                <a:ea typeface="Montserrat"/>
                <a:cs typeface="Montserrat"/>
                <a:sym typeface="Montserrat"/>
              </a:rPr>
              <a:t>motivación</a:t>
            </a:r>
            <a:r>
              <a:rPr lang="en" sz="1000">
                <a:solidFill>
                  <a:srgbClr val="434343"/>
                </a:solidFill>
                <a:latin typeface="Montserrat"/>
                <a:ea typeface="Montserrat"/>
                <a:cs typeface="Montserrat"/>
                <a:sym typeface="Montserrat"/>
              </a:rPr>
              <a:t> y </a:t>
            </a:r>
            <a:r>
              <a:rPr lang="en" sz="1000">
                <a:solidFill>
                  <a:srgbClr val="434343"/>
                </a:solidFill>
                <a:latin typeface="Montserrat"/>
                <a:ea typeface="Montserrat"/>
                <a:cs typeface="Montserrat"/>
                <a:sym typeface="Montserrat"/>
              </a:rPr>
              <a:t>transformación,</a:t>
            </a:r>
            <a:r>
              <a:rPr lang="en" sz="1000">
                <a:solidFill>
                  <a:srgbClr val="434343"/>
                </a:solidFill>
                <a:latin typeface="Montserrat"/>
                <a:ea typeface="Montserrat"/>
                <a:cs typeface="Montserrat"/>
                <a:sym typeface="Montserrat"/>
              </a:rPr>
              <a:t> tanto en hogares como en colegios. Nuestra </a:t>
            </a:r>
            <a:r>
              <a:rPr lang="en" sz="1000">
                <a:solidFill>
                  <a:srgbClr val="434343"/>
                </a:solidFill>
                <a:latin typeface="Montserrat"/>
                <a:ea typeface="Montserrat"/>
                <a:cs typeface="Montserrat"/>
                <a:sym typeface="Montserrat"/>
              </a:rPr>
              <a:t>intención</a:t>
            </a:r>
            <a:r>
              <a:rPr lang="en" sz="1000">
                <a:solidFill>
                  <a:srgbClr val="434343"/>
                </a:solidFill>
                <a:latin typeface="Montserrat"/>
                <a:ea typeface="Montserrat"/>
                <a:cs typeface="Montserrat"/>
                <a:sym typeface="Montserrat"/>
              </a:rPr>
              <a:t> es crear entornos adaptados a las necesidades individuales del niño mediante </a:t>
            </a:r>
            <a:r>
              <a:rPr lang="en" sz="1000">
                <a:solidFill>
                  <a:srgbClr val="434343"/>
                </a:solidFill>
                <a:latin typeface="Montserrat"/>
                <a:ea typeface="Montserrat"/>
                <a:cs typeface="Montserrat"/>
                <a:sym typeface="Montserrat"/>
              </a:rPr>
              <a:t>metodologías</a:t>
            </a:r>
            <a:r>
              <a:rPr lang="en" sz="1000">
                <a:solidFill>
                  <a:srgbClr val="434343"/>
                </a:solidFill>
                <a:latin typeface="Montserrat"/>
                <a:ea typeface="Montserrat"/>
                <a:cs typeface="Montserrat"/>
                <a:sym typeface="Montserrat"/>
              </a:rPr>
              <a:t> </a:t>
            </a:r>
            <a:r>
              <a:rPr lang="en" sz="1000">
                <a:solidFill>
                  <a:srgbClr val="434343"/>
                </a:solidFill>
                <a:latin typeface="Montserrat"/>
                <a:ea typeface="Montserrat"/>
                <a:cs typeface="Montserrat"/>
                <a:sym typeface="Montserrat"/>
              </a:rPr>
              <a:t>holísticas</a:t>
            </a:r>
            <a:r>
              <a:rPr lang="en" sz="1000">
                <a:solidFill>
                  <a:srgbClr val="434343"/>
                </a:solidFill>
                <a:latin typeface="Montserrat"/>
                <a:ea typeface="Montserrat"/>
                <a:cs typeface="Montserrat"/>
                <a:sym typeface="Montserrat"/>
              </a:rPr>
              <a:t> que faciliten su </a:t>
            </a:r>
            <a:r>
              <a:rPr lang="en" sz="1000">
                <a:solidFill>
                  <a:srgbClr val="434343"/>
                </a:solidFill>
                <a:latin typeface="Montserrat"/>
                <a:ea typeface="Montserrat"/>
                <a:cs typeface="Montserrat"/>
                <a:sym typeface="Montserrat"/>
              </a:rPr>
              <a:t>autonomía</a:t>
            </a:r>
            <a:r>
              <a:rPr lang="en" sz="1000">
                <a:solidFill>
                  <a:srgbClr val="434343"/>
                </a:solidFill>
                <a:latin typeface="Montserrat"/>
                <a:ea typeface="Montserrat"/>
                <a:cs typeface="Montserrat"/>
                <a:sym typeface="Montserrat"/>
              </a:rPr>
              <a:t> en el día a </a:t>
            </a:r>
            <a:r>
              <a:rPr lang="en" sz="1000">
                <a:solidFill>
                  <a:srgbClr val="434343"/>
                </a:solidFill>
                <a:latin typeface="Montserrat"/>
                <a:ea typeface="Montserrat"/>
                <a:cs typeface="Montserrat"/>
                <a:sym typeface="Montserrat"/>
              </a:rPr>
              <a:t>día</a:t>
            </a:r>
            <a:r>
              <a:rPr lang="en" sz="1000">
                <a:solidFill>
                  <a:srgbClr val="434343"/>
                </a:solidFill>
                <a:latin typeface="Montserrat"/>
                <a:ea typeface="Montserrat"/>
                <a:cs typeface="Montserrat"/>
                <a:sym typeface="Montserrat"/>
              </a:rPr>
              <a:t>.  Contamos con ocho años de experiencia dedicados a la infancia y estamos acreditados por la Comunidad de Madrid. </a:t>
            </a:r>
            <a:endParaRPr sz="1000">
              <a:solidFill>
                <a:srgbClr val="434343"/>
              </a:solidFill>
              <a:latin typeface="Montserrat"/>
              <a:ea typeface="Montserrat"/>
              <a:cs typeface="Montserrat"/>
              <a:sym typeface="Montserrat"/>
            </a:endParaRPr>
          </a:p>
        </p:txBody>
      </p:sp>
      <p:cxnSp>
        <p:nvCxnSpPr>
          <p:cNvPr id="92" name="Google Shape;92;p14"/>
          <p:cNvCxnSpPr/>
          <p:nvPr/>
        </p:nvCxnSpPr>
        <p:spPr>
          <a:xfrm flipH="1" rot="10800000">
            <a:off x="3436625" y="5013050"/>
            <a:ext cx="6077400" cy="900"/>
          </a:xfrm>
          <a:prstGeom prst="straightConnector1">
            <a:avLst/>
          </a:prstGeom>
          <a:noFill/>
          <a:ln cap="flat" cmpd="sng" w="38100">
            <a:solidFill>
              <a:schemeClr val="accent1"/>
            </a:solidFill>
            <a:prstDash val="solid"/>
            <a:round/>
            <a:headEnd len="med" w="med" type="none"/>
            <a:tailEnd len="med" w="med" type="none"/>
          </a:ln>
        </p:spPr>
      </p:cxnSp>
      <p:pic>
        <p:nvPicPr>
          <p:cNvPr id="93" name="Google Shape;93;p14"/>
          <p:cNvPicPr preferRelativeResize="0"/>
          <p:nvPr/>
        </p:nvPicPr>
        <p:blipFill rotWithShape="1">
          <a:blip r:embed="rId3">
            <a:alphaModFix/>
          </a:blip>
          <a:srcRect b="0" l="22466" r="11147" t="0"/>
          <a:stretch/>
        </p:blipFill>
        <p:spPr>
          <a:xfrm>
            <a:off x="515600" y="1361575"/>
            <a:ext cx="2010000" cy="2018400"/>
          </a:xfrm>
          <a:prstGeom prst="ellipse">
            <a:avLst/>
          </a:prstGeom>
          <a:noFill/>
          <a:ln>
            <a:noFill/>
          </a:ln>
        </p:spPr>
      </p:pic>
      <p:sp>
        <p:nvSpPr>
          <p:cNvPr id="94" name="Google Shape;94;p14"/>
          <p:cNvSpPr txBox="1"/>
          <p:nvPr>
            <p:ph idx="4294967295" type="title"/>
          </p:nvPr>
        </p:nvSpPr>
        <p:spPr>
          <a:xfrm>
            <a:off x="-100" y="309975"/>
            <a:ext cx="3041400" cy="750000"/>
          </a:xfrm>
          <a:prstGeom prst="rect">
            <a:avLst/>
          </a:prstGeom>
        </p:spPr>
        <p:txBody>
          <a:bodyPr anchorCtr="0" anchor="t" bIns="113100" lIns="113100" spcFirstLastPara="1" rIns="113100" wrap="square" tIns="113100">
            <a:noAutofit/>
          </a:bodyPr>
          <a:lstStyle/>
          <a:p>
            <a:pPr indent="0" lvl="0" marL="0" rtl="0" algn="ctr">
              <a:lnSpc>
                <a:spcPct val="115000"/>
              </a:lnSpc>
              <a:spcBef>
                <a:spcPts val="0"/>
              </a:spcBef>
              <a:spcAft>
                <a:spcPts val="0"/>
              </a:spcAft>
              <a:buSzPts val="990"/>
              <a:buNone/>
            </a:pPr>
            <a:r>
              <a:rPr b="1" lang="en" sz="2800">
                <a:solidFill>
                  <a:schemeClr val="accent1"/>
                </a:solidFill>
                <a:latin typeface="Bree Serif"/>
                <a:ea typeface="Bree Serif"/>
                <a:cs typeface="Bree Serif"/>
                <a:sym typeface="Bree Serif"/>
              </a:rPr>
              <a:t>Tatiana y Felipe</a:t>
            </a:r>
            <a:endParaRPr b="1" sz="2800">
              <a:solidFill>
                <a:schemeClr val="accent1"/>
              </a:solidFill>
              <a:latin typeface="Bree Serif"/>
              <a:ea typeface="Bree Serif"/>
              <a:cs typeface="Bree Serif"/>
              <a:sym typeface="Bree Serif"/>
            </a:endParaRPr>
          </a:p>
        </p:txBody>
      </p:sp>
      <p:sp>
        <p:nvSpPr>
          <p:cNvPr id="95" name="Google Shape;95;p14"/>
          <p:cNvSpPr/>
          <p:nvPr/>
        </p:nvSpPr>
        <p:spPr>
          <a:xfrm>
            <a:off x="6424300" y="296050"/>
            <a:ext cx="3141900" cy="750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4"/>
          <p:cNvSpPr/>
          <p:nvPr/>
        </p:nvSpPr>
        <p:spPr>
          <a:xfrm>
            <a:off x="3426375" y="309000"/>
            <a:ext cx="2530800" cy="750000"/>
          </a:xfrm>
          <a:prstGeom prst="rect">
            <a:avLst/>
          </a:prstGeom>
          <a:solidFill>
            <a:srgbClr val="4285F4">
              <a:alpha val="8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4"/>
          <p:cNvSpPr txBox="1"/>
          <p:nvPr>
            <p:ph idx="4294967295" type="body"/>
          </p:nvPr>
        </p:nvSpPr>
        <p:spPr>
          <a:xfrm>
            <a:off x="6499900" y="453450"/>
            <a:ext cx="3041400" cy="512400"/>
          </a:xfrm>
          <a:prstGeom prst="rect">
            <a:avLst/>
          </a:prstGeom>
        </p:spPr>
        <p:txBody>
          <a:bodyPr anchorCtr="0" anchor="t" bIns="113100" lIns="113100" spcFirstLastPara="1" rIns="113100" wrap="square" tIns="113100">
            <a:normAutofit/>
          </a:bodyPr>
          <a:lstStyle/>
          <a:p>
            <a:pPr indent="0" lvl="0" marL="0" rtl="0" algn="l">
              <a:lnSpc>
                <a:spcPct val="115000"/>
              </a:lnSpc>
              <a:spcBef>
                <a:spcPts val="0"/>
              </a:spcBef>
              <a:spcAft>
                <a:spcPts val="0"/>
              </a:spcAft>
              <a:buNone/>
            </a:pPr>
            <a:r>
              <a:rPr lang="en" sz="1600">
                <a:solidFill>
                  <a:srgbClr val="434343"/>
                </a:solidFill>
                <a:latin typeface="Bree Serif"/>
                <a:ea typeface="Bree Serif"/>
                <a:cs typeface="Bree Serif"/>
                <a:sym typeface="Bree Serif"/>
              </a:rPr>
              <a:t>Objeciones Comunes</a:t>
            </a:r>
            <a:endParaRPr i="1" sz="1000">
              <a:solidFill>
                <a:srgbClr val="434343"/>
              </a:solidFill>
              <a:latin typeface="Montserrat"/>
              <a:ea typeface="Montserrat"/>
              <a:cs typeface="Montserrat"/>
              <a:sym typeface="Montserrat"/>
            </a:endParaRPr>
          </a:p>
        </p:txBody>
      </p:sp>
      <p:sp>
        <p:nvSpPr>
          <p:cNvPr id="98" name="Google Shape;98;p14"/>
          <p:cNvSpPr txBox="1"/>
          <p:nvPr>
            <p:ph idx="4294967295" type="body"/>
          </p:nvPr>
        </p:nvSpPr>
        <p:spPr>
          <a:xfrm>
            <a:off x="3502850" y="453446"/>
            <a:ext cx="2535600" cy="474300"/>
          </a:xfrm>
          <a:prstGeom prst="rect">
            <a:avLst/>
          </a:prstGeom>
        </p:spPr>
        <p:txBody>
          <a:bodyPr anchorCtr="0" anchor="t" bIns="113100" lIns="113100" spcFirstLastPara="1" rIns="113100" wrap="square" tIns="113100">
            <a:normAutofit/>
          </a:bodyPr>
          <a:lstStyle/>
          <a:p>
            <a:pPr indent="0" lvl="0" marL="0" rtl="0" algn="l">
              <a:lnSpc>
                <a:spcPct val="115000"/>
              </a:lnSpc>
              <a:spcBef>
                <a:spcPts val="0"/>
              </a:spcBef>
              <a:spcAft>
                <a:spcPts val="0"/>
              </a:spcAft>
              <a:buNone/>
            </a:pPr>
            <a:r>
              <a:rPr lang="en" sz="1600">
                <a:solidFill>
                  <a:srgbClr val="434343"/>
                </a:solidFill>
                <a:latin typeface="Bree Serif"/>
                <a:ea typeface="Bree Serif"/>
                <a:cs typeface="Bree Serif"/>
                <a:sym typeface="Bree Serif"/>
              </a:rPr>
              <a:t>Retos</a:t>
            </a:r>
            <a:endParaRPr i="1" sz="1000">
              <a:solidFill>
                <a:srgbClr val="434343"/>
              </a:solidFill>
              <a:latin typeface="Montserrat"/>
              <a:ea typeface="Montserrat"/>
              <a:cs typeface="Montserrat"/>
              <a:sym typeface="Montserrat"/>
            </a:endParaRPr>
          </a:p>
        </p:txBody>
      </p:sp>
      <p:cxnSp>
        <p:nvCxnSpPr>
          <p:cNvPr id="99" name="Google Shape;99;p14"/>
          <p:cNvCxnSpPr/>
          <p:nvPr/>
        </p:nvCxnSpPr>
        <p:spPr>
          <a:xfrm>
            <a:off x="6423700" y="1084550"/>
            <a:ext cx="3143100" cy="0"/>
          </a:xfrm>
          <a:prstGeom prst="straightConnector1">
            <a:avLst/>
          </a:prstGeom>
          <a:noFill/>
          <a:ln cap="flat" cmpd="sng" w="38100">
            <a:solidFill>
              <a:schemeClr val="accent1"/>
            </a:solidFill>
            <a:prstDash val="solid"/>
            <a:round/>
            <a:headEnd len="med" w="med" type="none"/>
            <a:tailEnd len="med" w="med" type="none"/>
          </a:ln>
        </p:spPr>
      </p:cxnSp>
      <p:cxnSp>
        <p:nvCxnSpPr>
          <p:cNvPr id="100" name="Google Shape;100;p14"/>
          <p:cNvCxnSpPr/>
          <p:nvPr/>
        </p:nvCxnSpPr>
        <p:spPr>
          <a:xfrm>
            <a:off x="3421588" y="1084550"/>
            <a:ext cx="2530800" cy="0"/>
          </a:xfrm>
          <a:prstGeom prst="straightConnector1">
            <a:avLst/>
          </a:prstGeom>
          <a:noFill/>
          <a:ln cap="flat" cmpd="sng" w="38100">
            <a:solidFill>
              <a:schemeClr val="accent1"/>
            </a:solidFill>
            <a:prstDash val="solid"/>
            <a:round/>
            <a:headEnd len="med" w="med" type="none"/>
            <a:tailEnd len="med" w="med" type="none"/>
          </a:ln>
        </p:spPr>
      </p:cxnSp>
      <p:sp>
        <p:nvSpPr>
          <p:cNvPr id="101" name="Google Shape;101;p14"/>
          <p:cNvSpPr txBox="1"/>
          <p:nvPr/>
        </p:nvSpPr>
        <p:spPr>
          <a:xfrm>
            <a:off x="70100" y="4181000"/>
            <a:ext cx="2837400" cy="2993700"/>
          </a:xfrm>
          <a:prstGeom prst="rect">
            <a:avLst/>
          </a:prstGeom>
          <a:noFill/>
          <a:ln>
            <a:noFill/>
          </a:ln>
        </p:spPr>
        <p:txBody>
          <a:bodyPr anchorCtr="0" anchor="t" bIns="91425" lIns="91425" spcFirstLastPara="1" rIns="91425" wrap="square" tIns="91425">
            <a:spAutoFit/>
          </a:bodyPr>
          <a:lstStyle/>
          <a:p>
            <a:pPr indent="-200660" lvl="0" marL="365760" rtl="0" algn="l">
              <a:lnSpc>
                <a:spcPct val="115000"/>
              </a:lnSpc>
              <a:spcBef>
                <a:spcPts val="120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Edad: ~ 40 años</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Ubicación: Madrid centro (80%), afueras (20%).</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Familia: matrimonio, más de un hijo. ~ 3 o 4 años diferencia de edad entre los hijos.</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Estilo de vida: mayoritariamente sector con dinero, mucho trabajo (ambos) y poco tiempo en casa. La relación con los niños no es muy estrecha. En el 60% de los casos tienen niñera.</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Ocupación: cargos de responsabilidad, empresas grandes/emprendedores.</a:t>
            </a:r>
            <a:endParaRPr sz="1000">
              <a:solidFill>
                <a:srgbClr val="FFFFFF"/>
              </a:solidFill>
              <a:latin typeface="Montserrat"/>
              <a:ea typeface="Montserrat"/>
              <a:cs typeface="Montserrat"/>
              <a:sym typeface="Montserrat"/>
            </a:endParaRPr>
          </a:p>
          <a:p>
            <a:pPr indent="-200660" lvl="0" marL="365760" rtl="0" algn="l">
              <a:lnSpc>
                <a:spcPct val="115000"/>
              </a:lnSpc>
              <a:spcBef>
                <a:spcPts val="0"/>
              </a:spcBef>
              <a:spcAft>
                <a:spcPts val="0"/>
              </a:spcAft>
              <a:buClr>
                <a:srgbClr val="FFFFFF"/>
              </a:buClr>
              <a:buSzPts val="1000"/>
              <a:buFont typeface="Montserrat"/>
              <a:buChar char="●"/>
            </a:pPr>
            <a:r>
              <a:rPr lang="en" sz="1000">
                <a:solidFill>
                  <a:srgbClr val="FFFFFF"/>
                </a:solidFill>
                <a:latin typeface="Montserrat"/>
                <a:ea typeface="Montserrat"/>
                <a:cs typeface="Montserrat"/>
                <a:sym typeface="Montserrat"/>
              </a:rPr>
              <a:t>Salario: </a:t>
            </a:r>
            <a:r>
              <a:rPr lang="en" sz="1000">
                <a:solidFill>
                  <a:schemeClr val="lt1"/>
                </a:solidFill>
                <a:latin typeface="Montserrat"/>
                <a:ea typeface="Montserrat"/>
                <a:cs typeface="Montserrat"/>
                <a:sym typeface="Montserrat"/>
              </a:rPr>
              <a:t>~</a:t>
            </a:r>
            <a:r>
              <a:rPr lang="en" sz="1000">
                <a:solidFill>
                  <a:srgbClr val="FFFFFF"/>
                </a:solidFill>
                <a:latin typeface="Montserrat"/>
                <a:ea typeface="Montserrat"/>
                <a:cs typeface="Montserrat"/>
                <a:sym typeface="Montserrat"/>
              </a:rPr>
              <a:t> 60-80K-año.</a:t>
            </a:r>
            <a:endParaRPr sz="1000">
              <a:solidFill>
                <a:srgbClr val="FFFFFF"/>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