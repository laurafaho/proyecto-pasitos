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Roboto Slab"/>
      <p:regular r:id="rId8"/>
      <p:bold r:id="rId9"/>
    </p:embeddedFont>
    <p:embeddedFont>
      <p:font typeface="Roboto"/>
      <p:regular r:id="rId10"/>
      <p:bold r:id="rId11"/>
      <p:italic r:id="rId12"/>
      <p:boldItalic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8F51DD1-6067-4551-B3A4-976F6AD90F0D}">
  <a:tblStyle styleId="{E8F51DD1-6067-4551-B3A4-976F6AD90F0D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4F0FF"/>
          </a:solidFill>
        </a:fill>
      </a:tcStyle>
    </a:wholeTbl>
    <a:band1H>
      <a:tcTxStyle b="off" i="off"/>
      <a:tcStyle>
        <a:fill>
          <a:solidFill>
            <a:srgbClr val="E9E1FF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E9E1FF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254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4F0FF"/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fill>
          <a:solidFill>
            <a:srgbClr val="F4F0FF"/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bold.fntdata"/><Relationship Id="rId10" Type="http://schemas.openxmlformats.org/officeDocument/2006/relationships/font" Target="fonts/Roboto-regular.fntdata"/><Relationship Id="rId13" Type="http://schemas.openxmlformats.org/officeDocument/2006/relationships/font" Target="fonts/Roboto-boldItalic.fntdata"/><Relationship Id="rId12" Type="http://schemas.openxmlformats.org/officeDocument/2006/relationships/font" Target="fonts/Roboto-italic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font" Target="fonts/RobotoSlab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RobotoSlab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91cc74ca14_0_283:notes"/>
          <p:cNvSpPr/>
          <p:nvPr>
            <p:ph idx="2" type="sldImg"/>
          </p:nvPr>
        </p:nvSpPr>
        <p:spPr>
          <a:xfrm>
            <a:off x="-1166813" y="0"/>
            <a:ext cx="5334000" cy="3000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g291cc74ca14_0_28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Helvetica Neue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291cc74ca14_0_28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fld id="{00000000-1234-1234-1234-123412341234}" type="slidenum">
              <a:rPr b="0" i="0" lang="e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91cc74ca14_0_38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291cc74ca14_0_3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bg>
      <p:bgPr>
        <a:solidFill>
          <a:srgbClr val="87EAF2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709470" y="4836699"/>
            <a:ext cx="14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1590675" y="732976"/>
            <a:ext cx="5962500" cy="375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Autofit/>
          </a:bodyPr>
          <a:lstStyle>
            <a:lvl1pPr indent="-374650" lvl="0" marL="457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2300"/>
              <a:buFont typeface="Arial"/>
              <a:buChar char="•"/>
              <a:defRPr b="1">
                <a:highlight>
                  <a:srgbClr val="5B0981"/>
                </a:highlight>
              </a:defRPr>
            </a:lvl1pPr>
            <a:lvl2pPr indent="-3365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•"/>
              <a:defRPr/>
            </a:lvl2pPr>
            <a:lvl3pPr indent="-3365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•"/>
              <a:defRPr/>
            </a:lvl4pPr>
            <a:lvl5pPr indent="-3365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•"/>
              <a:defRPr/>
            </a:lvl5pPr>
            <a:lvl6pPr indent="-336550" lvl="5" marL="2743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-"/>
              <a:defRPr/>
            </a:lvl6pPr>
            <a:lvl7pPr indent="-336550" lvl="6" marL="3200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-"/>
              <a:defRPr/>
            </a:lvl7pPr>
            <a:lvl8pPr indent="-336550" lvl="7" marL="3657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-"/>
              <a:defRPr/>
            </a:lvl8pPr>
            <a:lvl9pPr indent="-336550" lvl="8" marL="4114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-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57175" y="533865"/>
            <a:ext cx="60213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  <a:defRPr b="1" sz="3000">
                <a:solidFill>
                  <a:srgbClr val="FFFFFF"/>
                </a:solidFill>
                <a:highlight>
                  <a:srgbClr val="5B0981"/>
                </a:highlight>
              </a:defRPr>
            </a:lvl1pPr>
            <a:lvl2pPr indent="-336550" lvl="1" marL="914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•"/>
              <a:defRPr/>
            </a:lvl2pPr>
            <a:lvl3pPr indent="-336550" lvl="2" marL="1371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•"/>
              <a:defRPr/>
            </a:lvl3pPr>
            <a:lvl4pPr indent="-336550" lvl="3" marL="1828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•"/>
              <a:defRPr/>
            </a:lvl4pPr>
            <a:lvl5pPr indent="-336550" lvl="4" marL="2286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•"/>
              <a:defRPr/>
            </a:lvl5pPr>
            <a:lvl6pPr indent="-336550" lvl="5" marL="27432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-"/>
              <a:defRPr/>
            </a:lvl6pPr>
            <a:lvl7pPr indent="-336550" lvl="6" marL="32004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-"/>
              <a:defRPr/>
            </a:lvl7pPr>
            <a:lvl8pPr indent="-336550" lvl="7" marL="36576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-"/>
              <a:defRPr/>
            </a:lvl8pPr>
            <a:lvl9pPr indent="-336550" lvl="8" marL="41148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SzPts val="1700"/>
              <a:buChar char="-"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709470" y="4836699"/>
            <a:ext cx="14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>
            <a:lvl1pPr indent="0" lvl="0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  <a:defRPr b="0" i="0" sz="800" u="none" cap="none" strike="noStrike">
                <a:solidFill>
                  <a:srgbClr val="5B098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accent4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ocs.google.com/presentation/d/1hfFNndda52eFHUrneX61aUPHTrTsQCQHslkGWii08x4/edit#slide=id.gccc9a5f4ed_0_0" TargetMode="External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/>
          <p:nvPr/>
        </p:nvSpPr>
        <p:spPr>
          <a:xfrm>
            <a:off x="376224" y="515075"/>
            <a:ext cx="7847100" cy="30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 u="sng">
                <a:solidFill>
                  <a:schemeClr val="hlink"/>
                </a:solidFill>
                <a:latin typeface="Roboto Slab"/>
                <a:ea typeface="Roboto Slab"/>
                <a:cs typeface="Roboto Slab"/>
                <a:sym typeface="Roboto Slab"/>
                <a:hlinkClick r:id="rId3"/>
              </a:rPr>
              <a:t>Tatiana y Flipe</a:t>
            </a:r>
            <a:r>
              <a:rPr b="1" lang="es" sz="3600">
                <a:solidFill>
                  <a:srgbClr val="0C4759"/>
                </a:solidFill>
                <a:latin typeface="Roboto Slab"/>
                <a:ea typeface="Roboto Slab"/>
                <a:cs typeface="Roboto Slab"/>
                <a:sym typeface="Roboto Slab"/>
              </a:rPr>
              <a:t> Mapa de Cliente</a:t>
            </a:r>
            <a:endParaRPr b="1" i="0" sz="3000" u="none" cap="none" strike="noStrike">
              <a:solidFill>
                <a:srgbClr val="0C4759"/>
              </a:solidFill>
              <a:highlight>
                <a:srgbClr val="5B0981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" name="Google Shape;71;p15"/>
          <p:cNvGrpSpPr/>
          <p:nvPr/>
        </p:nvGrpSpPr>
        <p:grpSpPr>
          <a:xfrm>
            <a:off x="0" y="1241437"/>
            <a:ext cx="9141714" cy="3899512"/>
            <a:chOff x="0" y="3310498"/>
            <a:chExt cx="24377904" cy="10398700"/>
          </a:xfrm>
        </p:grpSpPr>
        <p:pic>
          <p:nvPicPr>
            <p:cNvPr descr="preencoded.png" id="72" name="Google Shape;72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3310498"/>
              <a:ext cx="24377904" cy="10398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3" name="Google Shape;73;p15"/>
            <p:cNvSpPr/>
            <p:nvPr/>
          </p:nvSpPr>
          <p:spPr>
            <a:xfrm>
              <a:off x="4348400" y="11851133"/>
              <a:ext cx="4440000" cy="1148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600"/>
                <a:buFont typeface="Arial"/>
                <a:buNone/>
              </a:pPr>
              <a:r>
                <a:rPr b="1" lang="es" sz="1100">
                  <a:solidFill>
                    <a:srgbClr val="0C4759"/>
                  </a:solidFill>
                  <a:latin typeface="Calibri"/>
                  <a:ea typeface="Calibri"/>
                  <a:cs typeface="Calibri"/>
                  <a:sym typeface="Calibri"/>
                </a:rPr>
                <a:t>Tengo un hijo con retos en el desarrollo. Busco apoyo a través de terapia.</a:t>
              </a:r>
              <a:endParaRPr i="0" sz="1400" u="none" cap="none" strike="noStrike">
                <a:solidFill>
                  <a:srgbClr val="0C47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3822738" y="10663830"/>
              <a:ext cx="990300" cy="9741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0B0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5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0C4759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1" i="0" sz="1100" u="none" cap="none" strike="noStrike">
                <a:solidFill>
                  <a:srgbClr val="0C47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6073243" y="7222959"/>
              <a:ext cx="990300" cy="9741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0B0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5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0C4759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1" i="0" sz="1100" u="none" cap="none" strike="noStrike">
                <a:solidFill>
                  <a:srgbClr val="0C47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5"/>
            <p:cNvSpPr/>
            <p:nvPr/>
          </p:nvSpPr>
          <p:spPr>
            <a:xfrm>
              <a:off x="7179697" y="7733939"/>
              <a:ext cx="38091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600"/>
                <a:buFont typeface="Arial"/>
                <a:buNone/>
              </a:pPr>
              <a:r>
                <a:rPr b="1" lang="es" sz="1100">
                  <a:solidFill>
                    <a:srgbClr val="0C4759"/>
                  </a:solidFill>
                  <a:latin typeface="Calibri"/>
                  <a:ea typeface="Calibri"/>
                  <a:cs typeface="Calibri"/>
                  <a:sym typeface="Calibri"/>
                </a:rPr>
                <a:t>Evaluación y alta con PasiTOs.</a:t>
              </a:r>
              <a:endParaRPr b="0" i="0" sz="1400" u="none" cap="none" strike="noStrike">
                <a:solidFill>
                  <a:srgbClr val="0C47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5"/>
            <p:cNvSpPr/>
            <p:nvPr/>
          </p:nvSpPr>
          <p:spPr>
            <a:xfrm>
              <a:off x="10515918" y="4725674"/>
              <a:ext cx="38091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600"/>
                <a:buFont typeface="Arial"/>
                <a:buNone/>
              </a:pPr>
              <a:r>
                <a:rPr b="1" lang="es" sz="1100">
                  <a:solidFill>
                    <a:srgbClr val="0C4759"/>
                  </a:solidFill>
                  <a:latin typeface="Calibri"/>
                  <a:ea typeface="Calibri"/>
                  <a:cs typeface="Calibri"/>
                  <a:sym typeface="Calibri"/>
                </a:rPr>
                <a:t>Duración de la terapia y seguimiento.</a:t>
              </a:r>
              <a:endParaRPr b="0" i="0" sz="1400" u="none" cap="none" strike="noStrike">
                <a:solidFill>
                  <a:srgbClr val="0C47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5"/>
            <p:cNvSpPr/>
            <p:nvPr/>
          </p:nvSpPr>
          <p:spPr>
            <a:xfrm>
              <a:off x="9525610" y="5222149"/>
              <a:ext cx="990300" cy="9741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0B0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5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0C4759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1" i="0" sz="1100" u="none" cap="none" strike="noStrike">
                <a:solidFill>
                  <a:srgbClr val="0C47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5"/>
            <p:cNvSpPr/>
            <p:nvPr/>
          </p:nvSpPr>
          <p:spPr>
            <a:xfrm>
              <a:off x="14579727" y="12028867"/>
              <a:ext cx="47046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600"/>
                <a:buFont typeface="Arial"/>
                <a:buNone/>
              </a:pPr>
              <a:r>
                <a:rPr b="1" lang="es" sz="1100">
                  <a:solidFill>
                    <a:srgbClr val="0C4759"/>
                  </a:solidFill>
                  <a:latin typeface="Calibri"/>
                  <a:ea typeface="Calibri"/>
                  <a:cs typeface="Calibri"/>
                  <a:sym typeface="Calibri"/>
                </a:rPr>
                <a:t>Análisis del recorrido hecho y posibles nuevos objetivos.</a:t>
              </a:r>
              <a:endParaRPr b="1" sz="1100">
                <a:solidFill>
                  <a:srgbClr val="0C475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>
              <a:off x="14579741" y="10877007"/>
              <a:ext cx="990300" cy="9741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0B0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5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0C4759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1" i="0" sz="1100" u="none" cap="none" strike="noStrike">
                <a:solidFill>
                  <a:srgbClr val="0C47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5"/>
            <p:cNvSpPr/>
            <p:nvPr/>
          </p:nvSpPr>
          <p:spPr>
            <a:xfrm>
              <a:off x="19679292" y="6196240"/>
              <a:ext cx="3809100" cy="79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18066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600"/>
                <a:buFont typeface="Arial"/>
                <a:buNone/>
              </a:pPr>
              <a:r>
                <a:rPr b="1" lang="es" sz="1100">
                  <a:solidFill>
                    <a:srgbClr val="0C4759"/>
                  </a:solidFill>
                  <a:latin typeface="Calibri"/>
                  <a:ea typeface="Calibri"/>
                  <a:cs typeface="Calibri"/>
                  <a:sym typeface="Calibri"/>
                </a:rPr>
                <a:t>Fin de la terapia.</a:t>
              </a:r>
              <a:endParaRPr b="0" i="0" sz="1400" u="none" cap="none" strike="noStrike">
                <a:solidFill>
                  <a:srgbClr val="0C47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5"/>
            <p:cNvSpPr/>
            <p:nvPr/>
          </p:nvSpPr>
          <p:spPr>
            <a:xfrm>
              <a:off x="19679284" y="5222157"/>
              <a:ext cx="990300" cy="974100"/>
            </a:xfrm>
            <a:prstGeom prst="ellipse">
              <a:avLst/>
            </a:prstGeom>
            <a:solidFill>
              <a:schemeClr val="dk1"/>
            </a:solidFill>
            <a:ln cap="flat" cmpd="sng" w="19050">
              <a:solidFill>
                <a:srgbClr val="00B0E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6C006C"/>
                </a:buClr>
                <a:buSzPts val="500"/>
                <a:buFont typeface="Arial"/>
                <a:buNone/>
              </a:pPr>
              <a:r>
                <a:rPr b="1" i="0" lang="es" sz="1100" u="none" cap="none" strike="noStrike">
                  <a:solidFill>
                    <a:srgbClr val="0C4759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1" i="0" sz="1100" u="none" cap="none" strike="noStrike">
                <a:solidFill>
                  <a:srgbClr val="0C47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3" name="Google Shape;83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06000" y="1"/>
            <a:ext cx="1035725" cy="10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09575" y="220715"/>
            <a:ext cx="6021300" cy="80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9050" lIns="19050" spcFirstLastPara="1" rIns="19050" wrap="square" tIns="1905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s" sz="3600">
                <a:solidFill>
                  <a:srgbClr val="0C4759"/>
                </a:solidFill>
                <a:latin typeface="Roboto Slab"/>
                <a:ea typeface="Roboto Slab"/>
                <a:cs typeface="Roboto Slab"/>
                <a:sym typeface="Roboto Slab"/>
              </a:rPr>
              <a:t>Descripción de las Etapas</a:t>
            </a:r>
            <a:endParaRPr>
              <a:solidFill>
                <a:srgbClr val="0C4759"/>
              </a:solidFill>
            </a:endParaRPr>
          </a:p>
        </p:txBody>
      </p:sp>
      <p:sp>
        <p:nvSpPr>
          <p:cNvPr id="89" name="Google Shape;89;p16"/>
          <p:cNvSpPr txBox="1"/>
          <p:nvPr>
            <p:ph idx="12" type="sldNum"/>
          </p:nvPr>
        </p:nvSpPr>
        <p:spPr>
          <a:xfrm>
            <a:off x="8762429" y="4836699"/>
            <a:ext cx="96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b" bIns="19050" lIns="19050" spcFirstLastPara="1" rIns="19050" wrap="square" tIns="19050">
            <a:spAutoFit/>
          </a:bodyPr>
          <a:lstStyle/>
          <a:p>
            <a:pPr indent="0" lvl="0" marL="0" rtl="0"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B0981"/>
              </a:buClr>
              <a:buSzPts val="800"/>
              <a:buFont typeface="Arial"/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aphicFrame>
        <p:nvGraphicFramePr>
          <p:cNvPr id="90" name="Google Shape;90;p16"/>
          <p:cNvGraphicFramePr/>
          <p:nvPr/>
        </p:nvGraphicFramePr>
        <p:xfrm>
          <a:off x="397292" y="156141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{E8F51DD1-6067-4551-B3A4-976F6AD90F0D}</a:tableStyleId>
              </a:tblPr>
              <a:tblGrid>
                <a:gridCol w="395525"/>
                <a:gridCol w="2307075"/>
                <a:gridCol w="5646800"/>
              </a:tblGrid>
              <a:tr h="7418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500"/>
                        <a:buFont typeface="Arial"/>
                        <a:buNone/>
                      </a:pPr>
                      <a:r>
                        <a:rPr b="1" lang="e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="1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" sz="1200"/>
                        <a:t>Tengo un hijo con retos en el desarrollo. Busco apoyo a través de terapia</a:t>
                      </a:r>
                      <a:endParaRPr sz="1200" u="none" cap="none" strike="noStrike"/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0" lang="es" sz="1000">
                          <a:solidFill>
                            <a:srgbClr val="434343"/>
                          </a:solidFill>
                        </a:rPr>
                        <a:t>Tenemos un niño con retos en el desarrollo. Buscamos ayuda</a:t>
                      </a:r>
                      <a:endParaRPr b="0" i="0" sz="1000" u="none" cap="none" strike="noStrike">
                        <a:solidFill>
                          <a:srgbClr val="434343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="1" i="0" sz="12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/>
                        <a:t>Evaluación y alta con PasiTOs</a:t>
                      </a:r>
                      <a:endParaRPr b="1" sz="1200" u="none" cap="none" strike="noStrike"/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Tras una sesión de valoración del </a:t>
                      </a: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niño</a:t>
                      </a: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, se acuerdan objetivos y PasiTOs nos ofrece un plan de terapia (horarios). PasiTOs nos da de alta en el sistema.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endParaRPr b="1" sz="1200" u="none" cap="none" strike="noStrike"/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/>
                        <a:t>Duración de la terapia y seguimiento</a:t>
                      </a:r>
                      <a:endParaRPr b="1" i="0" sz="1200" u="none" cap="none" strike="noStrike"/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La terapia se desarrolla. Coordinación con el centro educativo y otros profesionales. Las estrategias que la terapeuta nos da para el día a día son fundamentales. Es posible que o la terapeuta o nosotros cancelemos una cita.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458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b="1" sz="1200" u="none" cap="none" strike="noStrike"/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/>
                        <a:t>Análisis del recorrido hecho y posibles nuevos objetivos</a:t>
                      </a:r>
                      <a:endParaRPr b="1" sz="1200" u="none" cap="none" strike="noStrike"/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A finales del "curso" (junio/julio) hay una sesión con PasiTOs para dar feedback sobre el progreso del </a:t>
                      </a: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niño</a:t>
                      </a: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 y nos entregan un informe resumen.</a:t>
                      </a:r>
                      <a:br>
                        <a:rPr lang="es" sz="1000">
                          <a:solidFill>
                            <a:srgbClr val="434343"/>
                          </a:solidFill>
                        </a:rPr>
                      </a:br>
                      <a:endParaRPr sz="10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Se nos dan recomendaciones para el verano, y la propuesta para el siguiente curso. Es posible que revisemos la frecuencia de las sesiones, pero lo normal es que volvamos en septiembre.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86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6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500"/>
                        <a:buFont typeface="Arial"/>
                        <a:buNone/>
                      </a:pPr>
                      <a:r>
                        <a:rPr b="1" i="0" lang="es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b="1" sz="1200" u="none" cap="none" strike="noStrike"/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" sz="1200"/>
                        <a:t>Fin de terapia</a:t>
                      </a:r>
                      <a:endParaRPr b="1" sz="1200" u="none" cap="none" strike="noStrike"/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475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a) Por diversos motivos, como familia, hemos decidido que nuestro hijo ya no haga más terapia.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92857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" sz="1000">
                          <a:solidFill>
                            <a:srgbClr val="434343"/>
                          </a:solidFill>
                        </a:rPr>
                        <a:t>b) PasiTOs ha dado de alta a nuestro hijo.</a:t>
                      </a:r>
                      <a:endParaRPr sz="1000">
                        <a:solidFill>
                          <a:srgbClr val="434343"/>
                        </a:solidFill>
                      </a:endParaRPr>
                    </a:p>
                  </a:txBody>
                  <a:tcPr marT="17150" marB="17150" marR="34300" marL="34300" anchor="ctr">
                    <a:lnL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9999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pic>
        <p:nvPicPr>
          <p:cNvPr id="91" name="Google Shape;9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06000" y="1"/>
            <a:ext cx="1035725" cy="103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